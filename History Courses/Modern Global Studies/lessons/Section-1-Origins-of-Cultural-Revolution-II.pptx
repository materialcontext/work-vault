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2"/>
  </p:notesMasterIdLst>
  <p:sldIdLst>
    <p:sldId id="256" r:id="rId5"/>
    <p:sldId id="257" r:id="rId6"/>
    <p:sldId id="258" r:id="rId7"/>
    <p:sldId id="269" r:id="rId8"/>
    <p:sldId id="260" r:id="rId9"/>
    <p:sldId id="261" r:id="rId10"/>
    <p:sldId id="262" r:id="rId11"/>
    <p:sldId id="268" r:id="rId12"/>
    <p:sldId id="263" r:id="rId13"/>
    <p:sldId id="265" r:id="rId14"/>
    <p:sldId id="264" r:id="rId15"/>
    <p:sldId id="266" r:id="rId16"/>
    <p:sldId id="267" r:id="rId17"/>
    <p:sldId id="270" r:id="rId18"/>
    <p:sldId id="271" r:id="rId19"/>
    <p:sldId id="259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4B2D7C-DD6D-4B5B-A09E-A2C6C17A3E87}" v="26" dt="2021-01-11T22:22:32.9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EB4FA-7373-4D77-B080-4407D24A56E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56BD85-03C3-4F88-9B0B-670320BE8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96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6BD85-03C3-4F88-9B0B-670320BE84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66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6BD85-03C3-4F88-9B0B-670320BE849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27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Based on Soviet Union First Five Year Plan. The assumption was that a strong base of heavy industry was needed before any country could develop consumer industries.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6BD85-03C3-4F88-9B0B-670320BE84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078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New Modes of Political Expertise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56BD85-03C3-4F88-9B0B-670320BE849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0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369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953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2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6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410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70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92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79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19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4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52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07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rriam-webster.com/dictionary/clique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hyperlink" Target="https://www.merriam-webster.com/dictionary/clique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Members of the Xiangyang Commune in Jiangsu Province take part in the campaign to &quot;Criticize Lin Biao and Confucius&quot;, one of the last large...">
            <a:extLst>
              <a:ext uri="{FF2B5EF4-FFF2-40B4-BE49-F238E27FC236}">
                <a16:creationId xmlns:a16="http://schemas.microsoft.com/office/drawing/2014/main" id="{22CC5F22-8D3C-402F-907C-9ED6DDBDAA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6" r="-1" b="-1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A44CD100-6267-4E62-AA64-2182A3A6A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E2A613-A68F-4A97-88AE-9BADA978E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Origins of the Cultural Revolution 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74FD3C7-93E5-4E14-B148-D8B6E10E75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674185"/>
            <a:ext cx="4806184" cy="3644537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400" b="1" dirty="0">
                <a:solidFill>
                  <a:srgbClr val="FF0000"/>
                </a:solidFill>
              </a:rPr>
              <a:t>Module </a:t>
            </a:r>
            <a:r>
              <a:rPr lang="en-US" sz="5400" dirty="0">
                <a:solidFill>
                  <a:srgbClr val="FF0000"/>
                </a:solidFill>
              </a:rPr>
              <a:t>1</a:t>
            </a:r>
            <a:r>
              <a:rPr lang="en-US" sz="5400" b="1" dirty="0">
                <a:solidFill>
                  <a:schemeClr val="bg1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13828779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2" name="Rectangle 72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Mass demonstration on China's National Day, October 1, outside the Gate of Heavenly Peace, Tiananmen, during the Cultural Revolution of the late...">
            <a:extLst>
              <a:ext uri="{FF2B5EF4-FFF2-40B4-BE49-F238E27FC236}">
                <a16:creationId xmlns:a16="http://schemas.microsoft.com/office/drawing/2014/main" id="{09DC0E4C-8BD3-4809-8327-52F78644F3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4" r="393" b="1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Rectangle 74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48CE83-8DBA-4A47-A8B4-B54D84B47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 dirty="0"/>
              <a:t>Major Questions:</a:t>
            </a:r>
          </a:p>
        </p:txBody>
      </p:sp>
      <p:sp>
        <p:nvSpPr>
          <p:cNvPr id="2055" name="Rectangle 7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6" name="Rectangle 7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C1886774-9456-4801-AF12-AE465279B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What was the Cultural Revolution?</a:t>
            </a:r>
          </a:p>
          <a:p>
            <a:r>
              <a:rPr lang="en-US" sz="1700" dirty="0"/>
              <a:t>Who was responsible for the Cultural Revolution?</a:t>
            </a:r>
          </a:p>
          <a:p>
            <a:r>
              <a:rPr lang="en-US" sz="1700" dirty="0"/>
              <a:t>What were the origins of the Cultural Revolution?</a:t>
            </a:r>
          </a:p>
          <a:p>
            <a:r>
              <a:rPr lang="en-US" sz="1700" dirty="0"/>
              <a:t>What were the long-term consequences of the Cultural Revolution?</a:t>
            </a:r>
          </a:p>
        </p:txBody>
      </p:sp>
    </p:spTree>
    <p:extLst>
      <p:ext uri="{BB962C8B-B14F-4D97-AF65-F5344CB8AC3E}">
        <p14:creationId xmlns:p14="http://schemas.microsoft.com/office/powerpoint/2010/main" val="1530914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Mao Zedong portrait in a poster of 1934 when he was President of the Chinese Soviet Republic founded in Jiangxi province in 1931 and that had...">
            <a:extLst>
              <a:ext uri="{FF2B5EF4-FFF2-40B4-BE49-F238E27FC236}">
                <a16:creationId xmlns:a16="http://schemas.microsoft.com/office/drawing/2014/main" id="{9196B358-246D-4D3E-9DC3-F71EE3FEF8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48" r="-1" b="29747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0136A8-455B-46B4-8D05-1E462626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 dirty="0"/>
              <a:t>Module 1 Question: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B6FE7074-D112-4F55-A6FD-15E11174B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Was Mao Zedong a dictator?</a:t>
            </a:r>
          </a:p>
          <a:p>
            <a:pPr lvl="1"/>
            <a:r>
              <a:rPr lang="en-US" sz="1200" dirty="0">
                <a:latin typeface="Open Sans"/>
              </a:rPr>
              <a:t>A</a:t>
            </a:r>
            <a:r>
              <a:rPr lang="en-US" sz="1200" b="0" i="0" dirty="0">
                <a:effectLst/>
                <a:latin typeface="Open Sans"/>
              </a:rPr>
              <a:t> form of government in which absolute power is concentrated in a dictator or a small </a:t>
            </a:r>
            <a:r>
              <a:rPr lang="en-US" sz="1200" b="0" i="0" u="none" strike="noStrike" dirty="0">
                <a:effectLst/>
                <a:latin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clique</a:t>
            </a:r>
            <a:r>
              <a:rPr lang="en-US" sz="1200" b="0" i="0" u="none" strike="noStrike" dirty="0">
                <a:effectLst/>
                <a:latin typeface="Open Sans"/>
              </a:rPr>
              <a:t>.</a:t>
            </a:r>
            <a:endParaRPr lang="en-US" sz="1300" dirty="0"/>
          </a:p>
          <a:p>
            <a:r>
              <a:rPr lang="en-US" sz="1700" dirty="0"/>
              <a:t>How were events in the Soviet Union connected to the Cultural Revolution?</a:t>
            </a:r>
          </a:p>
        </p:txBody>
      </p:sp>
    </p:spTree>
    <p:extLst>
      <p:ext uri="{BB962C8B-B14F-4D97-AF65-F5344CB8AC3E}">
        <p14:creationId xmlns:p14="http://schemas.microsoft.com/office/powerpoint/2010/main" val="439502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Rectangle 76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0" name="Rectangle 78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51" name="Rectangle 80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Mao Zedong - Politician, China *26.12.1893-+ Chairman of the Communist Party of China ; Chairman of the CPPCC ; President of the People's Republic of...">
            <a:extLst>
              <a:ext uri="{FF2B5EF4-FFF2-40B4-BE49-F238E27FC236}">
                <a16:creationId xmlns:a16="http://schemas.microsoft.com/office/drawing/2014/main" id="{98F4DDF2-7404-41F8-902A-F07D53EDE4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710"/>
          <a:stretch/>
        </p:blipFill>
        <p:spPr bwMode="auto">
          <a:xfrm>
            <a:off x="20" y="10"/>
            <a:ext cx="1219198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2" name="Rectangle 82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4527C-700E-484B-A9AA-F5C92F92E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Module Theme: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95F94-CB6F-4198-BC1E-84C3CE7C9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553" y="5624945"/>
            <a:ext cx="9078562" cy="5929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800"/>
              <a:t>Competing Visions for China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80295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8" name="Rectangle 136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hairman Mao Tse Tung announces the founding of the People's Republic of China. October 1, 1949. Peking , China.">
            <a:extLst>
              <a:ext uri="{FF2B5EF4-FFF2-40B4-BE49-F238E27FC236}">
                <a16:creationId xmlns:a16="http://schemas.microsoft.com/office/drawing/2014/main" id="{C83A2688-321F-4B0E-8DE4-604AF376CB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2" r="-1" b="36610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9" name="Rectangle 138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761669-4D25-4D1D-B7F7-C3DDAC74A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2800" dirty="0"/>
              <a:t>Setting the Stage for the Cultural Revolution</a:t>
            </a:r>
          </a:p>
        </p:txBody>
      </p:sp>
      <p:sp>
        <p:nvSpPr>
          <p:cNvPr id="1031" name="Rectangle 140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14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BCCF0C0A-3C6B-4036-8C91-FC3932FFD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800" u="sng" dirty="0"/>
              <a:t>October 1, 1949</a:t>
            </a:r>
            <a:r>
              <a:rPr lang="en-US" sz="1800" dirty="0"/>
              <a:t>, </a:t>
            </a:r>
            <a:r>
              <a:rPr lang="en-US" sz="1700" dirty="0"/>
              <a:t>Mao Zedong proclaims the establishment of the People’s Republic of China. </a:t>
            </a:r>
          </a:p>
          <a:p>
            <a:r>
              <a:rPr lang="en-US" sz="1700" dirty="0"/>
              <a:t>“New China” would “Lean to one side.”</a:t>
            </a:r>
          </a:p>
          <a:p>
            <a:pPr lvl="1"/>
            <a:r>
              <a:rPr lang="en-US" sz="1300" dirty="0"/>
              <a:t>Siding in the Soviet Union.</a:t>
            </a:r>
          </a:p>
          <a:p>
            <a:pPr lvl="1"/>
            <a:r>
              <a:rPr lang="en-US" sz="1300" dirty="0"/>
              <a:t>Following the Soviet Model by creating a highly bureaucratic state.</a:t>
            </a:r>
          </a:p>
          <a:p>
            <a:pPr lvl="1"/>
            <a:endParaRPr lang="en-US" sz="1300" dirty="0"/>
          </a:p>
          <a:p>
            <a:endParaRPr lang="en-US" sz="1700" dirty="0"/>
          </a:p>
          <a:p>
            <a:endParaRPr lang="en-US" sz="1500" dirty="0"/>
          </a:p>
          <a:p>
            <a:pPr lvl="1"/>
            <a:endParaRPr lang="en-US" sz="1300" dirty="0"/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080967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2" name="Rectangle 70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Worker in the 1st July People's Commune, China.">
            <a:extLst>
              <a:ext uri="{FF2B5EF4-FFF2-40B4-BE49-F238E27FC236}">
                <a16:creationId xmlns:a16="http://schemas.microsoft.com/office/drawing/2014/main" id="{4E14EF42-8D0D-4A16-B6A4-A3C35BF34B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3949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3" name="Rectangle 72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512BF9-97B9-4255-844E-BE9C022FD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 fontScale="90000"/>
          </a:bodyPr>
          <a:lstStyle/>
          <a:p>
            <a:r>
              <a:rPr lang="en-US" sz="2800" dirty="0"/>
              <a:t>The First Five Year Plan (1953-1957)</a:t>
            </a:r>
          </a:p>
        </p:txBody>
      </p:sp>
      <p:sp>
        <p:nvSpPr>
          <p:cNvPr id="2054" name="Rectangle 7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5" name="Rectangle 7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6" name="Content Placeholder 2">
            <a:extLst>
              <a:ext uri="{FF2B5EF4-FFF2-40B4-BE49-F238E27FC236}">
                <a16:creationId xmlns:a16="http://schemas.microsoft.com/office/drawing/2014/main" id="{8BD45BFA-67E8-46A8-806E-A43F01DC7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835908"/>
          </a:xfrm>
        </p:spPr>
        <p:txBody>
          <a:bodyPr anchor="t">
            <a:normAutofit/>
          </a:bodyPr>
          <a:lstStyle/>
          <a:p>
            <a:r>
              <a:rPr lang="en-US" sz="1700" dirty="0"/>
              <a:t>Soviet Planned Economy</a:t>
            </a:r>
          </a:p>
          <a:p>
            <a:pPr lvl="1"/>
            <a:r>
              <a:rPr lang="en-US" sz="1300" dirty="0"/>
              <a:t>Heavy industry as a prerequisite for further growth. </a:t>
            </a:r>
          </a:p>
          <a:p>
            <a:r>
              <a:rPr lang="en-US" sz="1700" dirty="0"/>
              <a:t>Emphasized Heavy Industry</a:t>
            </a:r>
            <a:endParaRPr lang="en-US" sz="900" dirty="0"/>
          </a:p>
          <a:p>
            <a:pPr lvl="1"/>
            <a:r>
              <a:rPr lang="en-US" sz="1300" dirty="0"/>
              <a:t>88% percent of budget dedicated to heavy industries: Steel, Machine Building, Fuel, Electric Power, Metallurgy, and Basic Chemicals.</a:t>
            </a:r>
          </a:p>
          <a:p>
            <a:pPr lvl="1"/>
            <a:r>
              <a:rPr lang="en-US" sz="1300" dirty="0"/>
              <a:t>Only 11% of investment to go to light industries.</a:t>
            </a:r>
          </a:p>
          <a:p>
            <a:pPr lvl="1"/>
            <a:r>
              <a:rPr lang="en-US" sz="1300" dirty="0"/>
              <a:t>Economic Growth at 14.7%.</a:t>
            </a:r>
          </a:p>
          <a:p>
            <a:pPr lvl="1"/>
            <a:r>
              <a:rPr lang="en-US" sz="1300" dirty="0"/>
              <a:t>Fostered rapid urbanization. </a:t>
            </a:r>
          </a:p>
        </p:txBody>
      </p:sp>
    </p:spTree>
    <p:extLst>
      <p:ext uri="{BB962C8B-B14F-4D97-AF65-F5344CB8AC3E}">
        <p14:creationId xmlns:p14="http://schemas.microsoft.com/office/powerpoint/2010/main" val="2289268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Chinese porter carries a stack of baskets at a market. The baskets would have contained 40-50 ducks to sell at the market.">
            <a:extLst>
              <a:ext uri="{FF2B5EF4-FFF2-40B4-BE49-F238E27FC236}">
                <a16:creationId xmlns:a16="http://schemas.microsoft.com/office/drawing/2014/main" id="{F545C9A7-0016-417C-953A-9A61D64288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44" b="23959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BF3E2B-AA5E-4ED6-AB36-A12A5ECAA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 fontScale="90000"/>
          </a:bodyPr>
          <a:lstStyle/>
          <a:p>
            <a:r>
              <a:rPr lang="en-US" sz="2800" dirty="0"/>
              <a:t>The First Five-Year Plan Continued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F5C99-4467-4C3C-A17C-9F087EEB7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744356"/>
          </a:xfrm>
        </p:spPr>
        <p:txBody>
          <a:bodyPr anchor="t">
            <a:normAutofit/>
          </a:bodyPr>
          <a:lstStyle/>
          <a:p>
            <a:r>
              <a:rPr lang="en-US" sz="1700" dirty="0"/>
              <a:t>New &amp; Growing Modes of Inequity</a:t>
            </a:r>
          </a:p>
          <a:p>
            <a:r>
              <a:rPr lang="en-US" sz="1700" dirty="0"/>
              <a:t>Urban vs. Rural Divide</a:t>
            </a:r>
          </a:p>
          <a:p>
            <a:pPr lvl="1"/>
            <a:r>
              <a:rPr lang="en-US" sz="1300" dirty="0"/>
              <a:t>Stagnating Agricultural Production</a:t>
            </a:r>
          </a:p>
          <a:p>
            <a:pPr lvl="2"/>
            <a:r>
              <a:rPr lang="en-US" sz="1100" dirty="0"/>
              <a:t>Agricultural Growth 2.7%</a:t>
            </a:r>
          </a:p>
          <a:p>
            <a:pPr lvl="2"/>
            <a:r>
              <a:rPr lang="en-US" sz="1100" dirty="0"/>
              <a:t>Population Growth 2.2%</a:t>
            </a:r>
          </a:p>
          <a:p>
            <a:pPr lvl="1"/>
            <a:r>
              <a:rPr lang="en-US" sz="1300" dirty="0"/>
              <a:t>Growth of Education Opportunities</a:t>
            </a:r>
          </a:p>
          <a:p>
            <a:pPr lvl="2"/>
            <a:r>
              <a:rPr lang="en-US" sz="1100" dirty="0"/>
              <a:t>Increase from 26,000,000 to 64,000,000 formal students</a:t>
            </a:r>
          </a:p>
          <a:p>
            <a:pPr lvl="2"/>
            <a:r>
              <a:rPr lang="en-US" sz="1100" dirty="0"/>
              <a:t>University Enrollment from 117,000 to 441,000.</a:t>
            </a:r>
          </a:p>
        </p:txBody>
      </p:sp>
    </p:spTree>
    <p:extLst>
      <p:ext uri="{BB962C8B-B14F-4D97-AF65-F5344CB8AC3E}">
        <p14:creationId xmlns:p14="http://schemas.microsoft.com/office/powerpoint/2010/main" val="4105615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138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 descr="Dictator of Soviet Russia, Joseph Stalin, addresses voters, of the Stalin election district in Moscow, on the even of the election in which Russians...">
            <a:extLst>
              <a:ext uri="{FF2B5EF4-FFF2-40B4-BE49-F238E27FC236}">
                <a16:creationId xmlns:a16="http://schemas.microsoft.com/office/drawing/2014/main" id="{8D1CE6FC-AF06-43B0-B5A4-025381D797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45" r="-2" b="40382"/>
          <a:stretch/>
        </p:blipFill>
        <p:spPr bwMode="auto"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Nikita S. Khrushchev chatting with Mao Tse-Tung.">
            <a:extLst>
              <a:ext uri="{FF2B5EF4-FFF2-40B4-BE49-F238E27FC236}">
                <a16:creationId xmlns:a16="http://schemas.microsoft.com/office/drawing/2014/main" id="{176A7224-8EA6-4562-B2D8-4FAF744E17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31026"/>
          <a:stretch/>
        </p:blipFill>
        <p:spPr bwMode="auto"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4105" name="Freeform: Shape 140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106" name="Freeform: Shape 142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384F79-2584-498F-BE92-471F29567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chemeClr val="bg1"/>
                </a:solidFill>
              </a:rPr>
              <a:t>Nikita Khrushchev's Secret Speech</a:t>
            </a:r>
          </a:p>
        </p:txBody>
      </p:sp>
      <p:sp>
        <p:nvSpPr>
          <p:cNvPr id="4107" name="Rectangle 144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08" name="Rectangle 146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02" name="Content Placeholder 4101">
            <a:extLst>
              <a:ext uri="{FF2B5EF4-FFF2-40B4-BE49-F238E27FC236}">
                <a16:creationId xmlns:a16="http://schemas.microsoft.com/office/drawing/2014/main" id="{9D03247F-6FC3-4628-9EEC-124613A4D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Joseph Stalin (1878-1953)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Leader of the Soviet Union 1922-1952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Defeated Hitler &amp; Boosted the Soviet Union’s economy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A ruthless dictator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Responsible for the deaths of millions</a:t>
            </a:r>
          </a:p>
          <a:p>
            <a:r>
              <a:rPr lang="en-US" sz="1800" dirty="0">
                <a:solidFill>
                  <a:schemeClr val="bg1"/>
                </a:solidFill>
              </a:rPr>
              <a:t>February 25th, 1956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Khrushchev denounces Stalin for his “Cult of Personality”</a:t>
            </a:r>
          </a:p>
        </p:txBody>
      </p:sp>
    </p:spTree>
    <p:extLst>
      <p:ext uri="{BB962C8B-B14F-4D97-AF65-F5344CB8AC3E}">
        <p14:creationId xmlns:p14="http://schemas.microsoft.com/office/powerpoint/2010/main" val="2706412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019D2B-E195-48E8-8E8E-48B0845A4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698835"/>
            <a:ext cx="4485861" cy="1587165"/>
          </a:xfrm>
        </p:spPr>
        <p:txBody>
          <a:bodyPr anchor="b">
            <a:normAutofit/>
          </a:bodyPr>
          <a:lstStyle/>
          <a:p>
            <a:r>
              <a:rPr lang="en-US" sz="3400" dirty="0">
                <a:solidFill>
                  <a:schemeClr val="bg1"/>
                </a:solidFill>
              </a:rPr>
              <a:t>Mao’s Criticism &amp; The Great Leap Forward 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E69FC-DBDC-4165-BE76-3E6120776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457450"/>
            <a:ext cx="4498848" cy="4039361"/>
          </a:xfrm>
        </p:spPr>
        <p:txBody>
          <a:bodyPr anchor="t">
            <a:norm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Mao’s criticism </a:t>
            </a:r>
          </a:p>
          <a:p>
            <a:pPr marL="457200" lvl="1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“Red vs. Expert”</a:t>
            </a:r>
          </a:p>
          <a:p>
            <a:pPr lvl="2"/>
            <a:r>
              <a:rPr lang="en-US" sz="1100" dirty="0">
                <a:solidFill>
                  <a:schemeClr val="bg1"/>
                </a:solidFill>
              </a:rPr>
              <a:t>Red = Marxist/Maoist Revolutionary</a:t>
            </a:r>
          </a:p>
          <a:p>
            <a:pPr lvl="2"/>
            <a:r>
              <a:rPr lang="en-US" sz="1100" dirty="0">
                <a:solidFill>
                  <a:schemeClr val="bg1"/>
                </a:solidFill>
              </a:rPr>
              <a:t>Expert = Possessing expertise.</a:t>
            </a:r>
          </a:p>
          <a:p>
            <a:pPr lvl="2"/>
            <a:r>
              <a:rPr lang="en-US" sz="1100" dirty="0">
                <a:solidFill>
                  <a:schemeClr val="bg1"/>
                </a:solidFill>
              </a:rPr>
              <a:t>Older revolutionaries replaced by industrial experts. </a:t>
            </a:r>
            <a:endParaRPr lang="en-US" sz="1700" dirty="0">
              <a:solidFill>
                <a:schemeClr val="bg1"/>
              </a:solidFill>
            </a:endParaRPr>
          </a:p>
          <a:p>
            <a:r>
              <a:rPr lang="en-US" sz="1700" dirty="0">
                <a:solidFill>
                  <a:schemeClr val="bg1"/>
                </a:solidFill>
              </a:rPr>
              <a:t>The Great Leap Forward (1958-1962):</a:t>
            </a:r>
          </a:p>
          <a:p>
            <a:pPr lvl="1"/>
            <a:r>
              <a:rPr lang="en-US" sz="1300" dirty="0">
                <a:solidFill>
                  <a:schemeClr val="bg1"/>
                </a:solidFill>
              </a:rPr>
              <a:t>Mao’s attempt for China to leap from socialism to communism.</a:t>
            </a:r>
          </a:p>
          <a:p>
            <a:pPr lvl="2"/>
            <a:r>
              <a:rPr lang="en-US" sz="1100" dirty="0">
                <a:solidFill>
                  <a:schemeClr val="bg1"/>
                </a:solidFill>
              </a:rPr>
              <a:t>Stages of development: Feudalism, Capitalism, Socialism, Communism.</a:t>
            </a:r>
          </a:p>
          <a:p>
            <a:pPr lvl="1"/>
            <a:r>
              <a:rPr lang="en-US" sz="1300" dirty="0">
                <a:solidFill>
                  <a:schemeClr val="bg1"/>
                </a:solidFill>
              </a:rPr>
              <a:t>“Socialist Ends by Socialist Means”</a:t>
            </a:r>
          </a:p>
          <a:p>
            <a:pPr lvl="1"/>
            <a:r>
              <a:rPr lang="en-US" sz="1300" dirty="0">
                <a:solidFill>
                  <a:schemeClr val="bg1"/>
                </a:solidFill>
              </a:rPr>
              <a:t>Mao planned to use the leap to surpass Britain in industrial production in under 15 years. </a:t>
            </a:r>
          </a:p>
          <a:p>
            <a:pPr lvl="2"/>
            <a:r>
              <a:rPr lang="en-US" sz="1100" dirty="0">
                <a:solidFill>
                  <a:schemeClr val="bg1"/>
                </a:solidFill>
              </a:rPr>
              <a:t>Industrialization of </a:t>
            </a:r>
            <a:r>
              <a:rPr lang="en-US" sz="1100">
                <a:solidFill>
                  <a:schemeClr val="bg1"/>
                </a:solidFill>
              </a:rPr>
              <a:t>the countryside. 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4098" name="Picture 2" descr="Small blast furnaces in hunan province, china, great leap forward, 1950s.">
            <a:extLst>
              <a:ext uri="{FF2B5EF4-FFF2-40B4-BE49-F238E27FC236}">
                <a16:creationId xmlns:a16="http://schemas.microsoft.com/office/drawing/2014/main" id="{CFAD420D-8605-4E58-A854-C3168C9F95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8" r="12657" b="-2"/>
          <a:stretch/>
        </p:blipFill>
        <p:spPr bwMode="auto"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noFill/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575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6" name="Rectangle 84">
            <a:extLst>
              <a:ext uri="{FF2B5EF4-FFF2-40B4-BE49-F238E27FC236}">
                <a16:creationId xmlns:a16="http://schemas.microsoft.com/office/drawing/2014/main" id="{63F5877B-98C7-49DD-83AB-0F6F57CB6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Marshal Peng Dehuai of Chinese Red Army. October 1955.">
            <a:extLst>
              <a:ext uri="{FF2B5EF4-FFF2-40B4-BE49-F238E27FC236}">
                <a16:creationId xmlns:a16="http://schemas.microsoft.com/office/drawing/2014/main" id="{1A0DE422-6D1A-4E55-9029-3EE57DEE6E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" r="3811"/>
          <a:stretch/>
        </p:blipFill>
        <p:spPr bwMode="auto">
          <a:xfrm>
            <a:off x="7364078" y="-18"/>
            <a:ext cx="4827922" cy="6857999"/>
          </a:xfrm>
          <a:custGeom>
            <a:avLst/>
            <a:gdLst/>
            <a:ahLst/>
            <a:cxnLst/>
            <a:rect l="l" t="t" r="r" b="b"/>
            <a:pathLst>
              <a:path w="4827922" h="6858000">
                <a:moveTo>
                  <a:pt x="4441" y="0"/>
                </a:moveTo>
                <a:lnTo>
                  <a:pt x="4827922" y="0"/>
                </a:lnTo>
                <a:lnTo>
                  <a:pt x="4827922" y="6858000"/>
                </a:lnTo>
                <a:lnTo>
                  <a:pt x="0" y="6858000"/>
                </a:lnTo>
                <a:lnTo>
                  <a:pt x="106674" y="6638378"/>
                </a:lnTo>
                <a:cubicBezTo>
                  <a:pt x="530028" y="5720938"/>
                  <a:pt x="777229" y="4614948"/>
                  <a:pt x="777229" y="3424428"/>
                </a:cubicBezTo>
                <a:cubicBezTo>
                  <a:pt x="777229" y="2233909"/>
                  <a:pt x="530028" y="1127919"/>
                  <a:pt x="106674" y="210478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On July 24 During The &quot;Great Leap Forward&quot; Campaign, Chinese Peasant Women Belonging To A Cooperative In The Soochow Region Admire Their Irrigation...">
            <a:extLst>
              <a:ext uri="{FF2B5EF4-FFF2-40B4-BE49-F238E27FC236}">
                <a16:creationId xmlns:a16="http://schemas.microsoft.com/office/drawing/2014/main" id="{7580A028-E4E4-47A8-8D53-6D31F02244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89" r="21066" b="-1"/>
          <a:stretch/>
        </p:blipFill>
        <p:spPr bwMode="auto">
          <a:xfrm>
            <a:off x="3119360" y="18"/>
            <a:ext cx="4966290" cy="6857999"/>
          </a:xfrm>
          <a:custGeom>
            <a:avLst/>
            <a:gdLst/>
            <a:ahLst/>
            <a:cxnLst/>
            <a:rect l="l" t="t" r="r" b="b"/>
            <a:pathLst>
              <a:path w="4966290" h="6857999">
                <a:moveTo>
                  <a:pt x="0" y="0"/>
                </a:moveTo>
                <a:lnTo>
                  <a:pt x="4188230" y="0"/>
                </a:lnTo>
                <a:lnTo>
                  <a:pt x="4295735" y="210478"/>
                </a:lnTo>
                <a:cubicBezTo>
                  <a:pt x="4719089" y="1127919"/>
                  <a:pt x="4966290" y="2233909"/>
                  <a:pt x="4966290" y="3424428"/>
                </a:cubicBezTo>
                <a:cubicBezTo>
                  <a:pt x="4966290" y="4614948"/>
                  <a:pt x="4719089" y="5720938"/>
                  <a:pt x="4295735" y="6638378"/>
                </a:cubicBezTo>
                <a:lnTo>
                  <a:pt x="4183560" y="6857999"/>
                </a:lnTo>
                <a:lnTo>
                  <a:pt x="53039" y="6857999"/>
                </a:lnTo>
                <a:lnTo>
                  <a:pt x="132047" y="6695338"/>
                </a:lnTo>
                <a:cubicBezTo>
                  <a:pt x="555401" y="5777898"/>
                  <a:pt x="802602" y="4671908"/>
                  <a:pt x="802602" y="3481388"/>
                </a:cubicBezTo>
                <a:cubicBezTo>
                  <a:pt x="802602" y="2191659"/>
                  <a:pt x="512484" y="1001134"/>
                  <a:pt x="22579" y="4206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057" name="Freeform: Shape 86">
            <a:extLst>
              <a:ext uri="{FF2B5EF4-FFF2-40B4-BE49-F238E27FC236}">
                <a16:creationId xmlns:a16="http://schemas.microsoft.com/office/drawing/2014/main" id="{4EA91930-66BC-4C41-B4F5-C31EB216F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58" name="Freeform: Shape 88">
            <a:extLst>
              <a:ext uri="{FF2B5EF4-FFF2-40B4-BE49-F238E27FC236}">
                <a16:creationId xmlns:a16="http://schemas.microsoft.com/office/drawing/2014/main" id="{6313CF8F-B436-401E-9575-DE0F8E8B5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1057C-976A-4A50-B73A-42A6D1D8A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274" y="681038"/>
            <a:ext cx="2804504" cy="1325563"/>
          </a:xfrm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The Lushan Plenum (1959)</a:t>
            </a:r>
          </a:p>
        </p:txBody>
      </p:sp>
      <p:sp>
        <p:nvSpPr>
          <p:cNvPr id="1059" name="Rectangle 90">
            <a:extLst>
              <a:ext uri="{FF2B5EF4-FFF2-40B4-BE49-F238E27FC236}">
                <a16:creationId xmlns:a16="http://schemas.microsoft.com/office/drawing/2014/main" id="{2A38CFE9-C30A-4551-ACCB-D5808FBC3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16867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0" name="Rectangle 92">
            <a:extLst>
              <a:ext uri="{FF2B5EF4-FFF2-40B4-BE49-F238E27FC236}">
                <a16:creationId xmlns:a16="http://schemas.microsoft.com/office/drawing/2014/main" id="{67EF550F-47CE-4FB2-9DAC-12AD835C8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0" name="Content Placeholder 2">
            <a:extLst>
              <a:ext uri="{FF2B5EF4-FFF2-40B4-BE49-F238E27FC236}">
                <a16:creationId xmlns:a16="http://schemas.microsoft.com/office/drawing/2014/main" id="{B7CAF766-3A6D-4C2F-994A-C16DF8B53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274" y="2258171"/>
            <a:ext cx="2804504" cy="3918792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Peng </a:t>
            </a:r>
            <a:r>
              <a:rPr lang="en-US" sz="1800" dirty="0" err="1">
                <a:solidFill>
                  <a:schemeClr val="bg2"/>
                </a:solidFill>
              </a:rPr>
              <a:t>Dehuai</a:t>
            </a:r>
            <a:endParaRPr lang="en-US" sz="1800" dirty="0">
              <a:solidFill>
                <a:schemeClr val="bg2"/>
              </a:solidFill>
            </a:endParaRPr>
          </a:p>
          <a:p>
            <a:pPr lvl="1"/>
            <a:r>
              <a:rPr lang="en-US" sz="1400" dirty="0">
                <a:solidFill>
                  <a:schemeClr val="bg2"/>
                </a:solidFill>
              </a:rPr>
              <a:t>Long time communist general and leader of Chinese forces during the Korean War (1950-1953). </a:t>
            </a:r>
          </a:p>
          <a:p>
            <a:pPr lvl="1"/>
            <a:r>
              <a:rPr lang="en-US" sz="1400" dirty="0">
                <a:solidFill>
                  <a:schemeClr val="bg2"/>
                </a:solidFill>
              </a:rPr>
              <a:t>Penned a letter critical of Mao’s Great Leap Forward. In it, he warned of a growing </a:t>
            </a:r>
            <a:r>
              <a:rPr lang="en-US" sz="1400" dirty="0" err="1">
                <a:solidFill>
                  <a:schemeClr val="bg2"/>
                </a:solidFill>
              </a:rPr>
              <a:t>catastrophy</a:t>
            </a:r>
            <a:r>
              <a:rPr lang="en-US" sz="1400" dirty="0">
                <a:solidFill>
                  <a:schemeClr val="bg2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18425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Picture taken on May 1962 showing Chinese refugees queuing for a meal at Hong Kong. - During the famine caused by &quot;The Great Leap Forward&quot; Chinese...">
            <a:extLst>
              <a:ext uri="{FF2B5EF4-FFF2-40B4-BE49-F238E27FC236}">
                <a16:creationId xmlns:a16="http://schemas.microsoft.com/office/drawing/2014/main" id="{0EE89ACC-B0E5-4744-B9C4-46335D3D04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r="3405" b="-1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8A6DB0E6-E65F-4229-A5A0-2500203B6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6EA429-733E-453C-BC58-428F05289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 fontScale="90000"/>
          </a:bodyPr>
          <a:lstStyle/>
          <a:p>
            <a:r>
              <a:rPr lang="en-US" sz="2800" dirty="0"/>
              <a:t>The Results of the Great Leap Forward (1960-1962)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Content Placeholder 1031">
            <a:extLst>
              <a:ext uri="{FF2B5EF4-FFF2-40B4-BE49-F238E27FC236}">
                <a16:creationId xmlns:a16="http://schemas.microsoft.com/office/drawing/2014/main" id="{566A5F74-4654-4EC5-B981-081E6F929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530601"/>
            <a:ext cx="3438906" cy="4070223"/>
          </a:xfrm>
        </p:spPr>
        <p:txBody>
          <a:bodyPr anchor="t">
            <a:normAutofit lnSpcReduction="10000"/>
          </a:bodyPr>
          <a:lstStyle/>
          <a:p>
            <a:r>
              <a:rPr lang="en-US" sz="1700" dirty="0"/>
              <a:t>Natural Disasters </a:t>
            </a:r>
          </a:p>
          <a:p>
            <a:pPr lvl="1"/>
            <a:r>
              <a:rPr lang="en-US" sz="1300" dirty="0"/>
              <a:t>Severe Flooding </a:t>
            </a:r>
          </a:p>
          <a:p>
            <a:r>
              <a:rPr lang="en-US" sz="1700" dirty="0"/>
              <a:t>The Sino-Soviet Split</a:t>
            </a:r>
          </a:p>
          <a:p>
            <a:pPr lvl="1"/>
            <a:r>
              <a:rPr lang="en-US" sz="1300" dirty="0"/>
              <a:t>China and the Soviet Union dispute over ideology</a:t>
            </a:r>
          </a:p>
          <a:p>
            <a:pPr lvl="1"/>
            <a:r>
              <a:rPr lang="en-US" sz="1300" dirty="0"/>
              <a:t>The Soviet Union recalls its 1,400 scientist and industrial specialist</a:t>
            </a:r>
          </a:p>
          <a:p>
            <a:r>
              <a:rPr lang="en-US" sz="1700" dirty="0"/>
              <a:t>Agricultural woes </a:t>
            </a:r>
          </a:p>
          <a:p>
            <a:pPr lvl="1"/>
            <a:r>
              <a:rPr lang="en-US" sz="1300" dirty="0"/>
              <a:t>Grain output 1958 (200,000,000 tons) vs. Grain output 1960 (144,000,000 tons)</a:t>
            </a:r>
          </a:p>
          <a:p>
            <a:r>
              <a:rPr lang="en-US" sz="1700" dirty="0"/>
              <a:t>Crushing Famine</a:t>
            </a:r>
          </a:p>
          <a:p>
            <a:pPr lvl="1"/>
            <a:r>
              <a:rPr lang="en-US" sz="1300" dirty="0"/>
              <a:t>15,000,000 to 30,000,000 Famine related deaths between 1959-1961</a:t>
            </a:r>
          </a:p>
        </p:txBody>
      </p:sp>
    </p:spTree>
    <p:extLst>
      <p:ext uri="{BB962C8B-B14F-4D97-AF65-F5344CB8AC3E}">
        <p14:creationId xmlns:p14="http://schemas.microsoft.com/office/powerpoint/2010/main" val="1580963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Rectangle 82">
            <a:extLst>
              <a:ext uri="{FF2B5EF4-FFF2-40B4-BE49-F238E27FC236}">
                <a16:creationId xmlns:a16="http://schemas.microsoft.com/office/drawing/2014/main" id="{71A784BF-09DB-448D-99FC-B49DFC660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65" name="Rectangle 84">
            <a:extLst>
              <a:ext uri="{FF2B5EF4-FFF2-40B4-BE49-F238E27FC236}">
                <a16:creationId xmlns:a16="http://schemas.microsoft.com/office/drawing/2014/main" id="{917859B3-4C91-478D-929D-BB6433F90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0C2145-C058-41B7-8BC9-C337645C8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35052"/>
            <a:ext cx="3093720" cy="1645920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chemeClr val="bg2"/>
                </a:solidFill>
              </a:rPr>
              <a:t>Mao Sidelined	</a:t>
            </a:r>
          </a:p>
        </p:txBody>
      </p:sp>
      <p:pic>
        <p:nvPicPr>
          <p:cNvPr id="4" name="Picture 4" descr="Liu Shaoqi , President of the People's Republic of China, attends a rally in Tiananmen Square, Beijing, to support the Vietnamese people in their...">
            <a:extLst>
              <a:ext uri="{FF2B5EF4-FFF2-40B4-BE49-F238E27FC236}">
                <a16:creationId xmlns:a16="http://schemas.microsoft.com/office/drawing/2014/main" id="{DCB328BF-6E79-46E9-AEF9-961EBB0EB2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72"/>
          <a:stretch/>
        </p:blipFill>
        <p:spPr bwMode="auto">
          <a:xfrm>
            <a:off x="20" y="-6"/>
            <a:ext cx="3931900" cy="400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ao-Tse Tung , Chairman of Communist Party in China. Photograph.">
            <a:extLst>
              <a:ext uri="{FF2B5EF4-FFF2-40B4-BE49-F238E27FC236}">
                <a16:creationId xmlns:a16="http://schemas.microsoft.com/office/drawing/2014/main" id="{F019CA22-CD47-41AB-A3AB-3285095B7D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8" r="4" b="20106"/>
          <a:stretch/>
        </p:blipFill>
        <p:spPr bwMode="auto">
          <a:xfrm>
            <a:off x="4130040" y="6"/>
            <a:ext cx="3931920" cy="400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China: Portrait of Deng Xiaoping, one of the figures in the struggle for power in China.">
            <a:extLst>
              <a:ext uri="{FF2B5EF4-FFF2-40B4-BE49-F238E27FC236}">
                <a16:creationId xmlns:a16="http://schemas.microsoft.com/office/drawing/2014/main" id="{E36F3107-8104-42B7-926F-4D4593E346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21" r="-3" b="24194"/>
          <a:stretch/>
        </p:blipFill>
        <p:spPr bwMode="auto">
          <a:xfrm>
            <a:off x="8260080" y="-1"/>
            <a:ext cx="3931920" cy="400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6" name="Rectangle 86">
            <a:extLst>
              <a:ext uri="{FF2B5EF4-FFF2-40B4-BE49-F238E27FC236}">
                <a16:creationId xmlns:a16="http://schemas.microsoft.com/office/drawing/2014/main" id="{6283FBD2-A663-469F-855C-06D86E3C1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7" name="Rectangle 88">
            <a:extLst>
              <a:ext uri="{FF2B5EF4-FFF2-40B4-BE49-F238E27FC236}">
                <a16:creationId xmlns:a16="http://schemas.microsoft.com/office/drawing/2014/main" id="{8A1279FC-7441-4E55-B082-2774E6316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403092" y="5258990"/>
            <a:ext cx="146304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2" name="Content Placeholder 2">
            <a:extLst>
              <a:ext uri="{FF2B5EF4-FFF2-40B4-BE49-F238E27FC236}">
                <a16:creationId xmlns:a16="http://schemas.microsoft.com/office/drawing/2014/main" id="{7C3E4053-CA5E-41EC-93F5-533D2FE0C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266" y="4435052"/>
            <a:ext cx="7104188" cy="1645920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2"/>
                </a:solidFill>
              </a:rPr>
              <a:t>Between 1960-1965, Mao complained he was treated like a “dead ancestor.” </a:t>
            </a:r>
          </a:p>
          <a:p>
            <a:r>
              <a:rPr lang="en-US" sz="1800" dirty="0">
                <a:solidFill>
                  <a:schemeClr val="bg2"/>
                </a:solidFill>
              </a:rPr>
              <a:t>Mao was Chairman of the CCP but could not set party policy. </a:t>
            </a:r>
          </a:p>
          <a:p>
            <a:r>
              <a:rPr lang="en-US" sz="1800" dirty="0">
                <a:solidFill>
                  <a:schemeClr val="bg2"/>
                </a:solidFill>
              </a:rPr>
              <a:t>Liu Shaoqi &amp; Deng Xiaoping (among others) guided the party.</a:t>
            </a:r>
          </a:p>
        </p:txBody>
      </p:sp>
    </p:spTree>
    <p:extLst>
      <p:ext uri="{BB962C8B-B14F-4D97-AF65-F5344CB8AC3E}">
        <p14:creationId xmlns:p14="http://schemas.microsoft.com/office/powerpoint/2010/main" val="884520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90A09C-3270-4F11-AB45-DD7ACFA9B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US" sz="3400" dirty="0"/>
              <a:t>Competing Views of “New” China.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D7086-C627-43AF-A6DE-2024A9023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anchor="t">
            <a:normAutofit/>
          </a:bodyPr>
          <a:lstStyle/>
          <a:p>
            <a:r>
              <a:rPr lang="en-US" sz="1700" dirty="0"/>
              <a:t>Mao’s Revolutionary Model vs. the Soviet Model</a:t>
            </a:r>
          </a:p>
          <a:p>
            <a:pPr lvl="1"/>
            <a:r>
              <a:rPr lang="en-US" sz="1300" dirty="0"/>
              <a:t>Mao believed that the revolutionary spirit could overcome China’s poverty. </a:t>
            </a:r>
          </a:p>
          <a:p>
            <a:pPr lvl="1"/>
            <a:r>
              <a:rPr lang="en-US" sz="1300" dirty="0"/>
              <a:t>Liu Shaoqi wanted to build up China government and heavy industries to guide China into the future. </a:t>
            </a:r>
          </a:p>
          <a:p>
            <a:r>
              <a:rPr lang="en-US" sz="1700" dirty="0"/>
              <a:t>Question Review</a:t>
            </a:r>
          </a:p>
          <a:p>
            <a:pPr lvl="1"/>
            <a:r>
              <a:rPr lang="en-US" sz="1300" dirty="0"/>
              <a:t>Was Mao Zedong a dictator?</a:t>
            </a:r>
          </a:p>
          <a:p>
            <a:pPr lvl="2"/>
            <a:r>
              <a:rPr lang="en-US" sz="1000" b="0" i="0" dirty="0">
                <a:effectLst/>
                <a:latin typeface="Open Sans"/>
              </a:rPr>
              <a:t>a form of government in which absolute power is concentrated in a dictator or a small </a:t>
            </a:r>
            <a:r>
              <a:rPr lang="en-US" sz="1000" b="0" i="0" u="none" strike="noStrike" dirty="0">
                <a:effectLst/>
                <a:latin typeface="Open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clique</a:t>
            </a:r>
            <a:r>
              <a:rPr lang="en-US" sz="1000" b="0" i="0" u="none" strike="noStrike" dirty="0">
                <a:effectLst/>
                <a:latin typeface="Open Sans"/>
              </a:rPr>
              <a:t>.</a:t>
            </a:r>
            <a:endParaRPr lang="en-US" sz="1100" dirty="0"/>
          </a:p>
          <a:p>
            <a:pPr lvl="1"/>
            <a:r>
              <a:rPr lang="en-US" sz="1300" dirty="0"/>
              <a:t>How were events in the Soviet Union connected to the Cultural Revolution?</a:t>
            </a:r>
          </a:p>
          <a:p>
            <a:endParaRPr lang="en-US" sz="1700" dirty="0"/>
          </a:p>
        </p:txBody>
      </p:sp>
      <p:pic>
        <p:nvPicPr>
          <p:cNvPr id="3074" name="Picture 2" descr="Billboard advertising the new Mercury car.">
            <a:extLst>
              <a:ext uri="{FF2B5EF4-FFF2-40B4-BE49-F238E27FC236}">
                <a16:creationId xmlns:a16="http://schemas.microsoft.com/office/drawing/2014/main" id="{A1C3F13B-00AD-43EB-B2D1-02E83F8BDC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" r="2181" b="1"/>
          <a:stretch/>
        </p:blipFill>
        <p:spPr bwMode="auto"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noFill/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079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Chinese Propaganda Poster of Mao Zedong">
            <a:extLst>
              <a:ext uri="{FF2B5EF4-FFF2-40B4-BE49-F238E27FC236}">
                <a16:creationId xmlns:a16="http://schemas.microsoft.com/office/drawing/2014/main" id="{76BA43C9-620D-4EB1-A555-2ABF55EE49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73" r="12064" b="9091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2831D0-8B60-448F-AF68-58D8D1170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>
                <a:solidFill>
                  <a:srgbClr val="FF0000"/>
                </a:solidFill>
              </a:rPr>
              <a:t>Module 2</a:t>
            </a:r>
            <a:r>
              <a:rPr lang="en-US" sz="4800" b="1" dirty="0"/>
              <a:t>	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5FD23F-01E8-4A84-A818-DCE344C4C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The Cultural </a:t>
            </a:r>
            <a:r>
              <a:rPr lang="en-US" sz="3200" b="1">
                <a:solidFill>
                  <a:srgbClr val="FF0000"/>
                </a:solidFill>
              </a:rPr>
              <a:t>Revolution (1966-1972)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89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ass demonstration on China's National Day, October 1, outside the Gate of Heavenly Peace, Tiananmen, during the Cultural Revolution of the late...">
            <a:extLst>
              <a:ext uri="{FF2B5EF4-FFF2-40B4-BE49-F238E27FC236}">
                <a16:creationId xmlns:a16="http://schemas.microsoft.com/office/drawing/2014/main" id="{09DC0E4C-8BD3-4809-8327-52F78644F3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4" r="393" b="1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48CE83-8DBA-4A47-A8B4-B54D84B47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 dirty="0"/>
              <a:t>Major Questions:</a:t>
            </a:r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C1886774-9456-4801-AF12-AE465279B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What was the Cultural Revolution?</a:t>
            </a:r>
          </a:p>
          <a:p>
            <a:r>
              <a:rPr lang="en-US" sz="1700" dirty="0"/>
              <a:t>Who was responsible for the Cultural Revolution?</a:t>
            </a:r>
          </a:p>
          <a:p>
            <a:r>
              <a:rPr lang="en-US" sz="1700" dirty="0"/>
              <a:t>What were the origins of the Cultural Revolution?</a:t>
            </a:r>
          </a:p>
          <a:p>
            <a:r>
              <a:rPr lang="en-US" sz="1700" dirty="0"/>
              <a:t>What were the long-term consequences of the Cultural Revolution?</a:t>
            </a:r>
          </a:p>
        </p:txBody>
      </p:sp>
    </p:spTree>
    <p:extLst>
      <p:ext uri="{BB962C8B-B14F-4D97-AF65-F5344CB8AC3E}">
        <p14:creationId xmlns:p14="http://schemas.microsoft.com/office/powerpoint/2010/main" val="380889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ao Zedong portrait in a poster of 1934 when he was President of the Chinese Soviet Republic founded in Jiangxi province in 1931 and that had...">
            <a:extLst>
              <a:ext uri="{FF2B5EF4-FFF2-40B4-BE49-F238E27FC236}">
                <a16:creationId xmlns:a16="http://schemas.microsoft.com/office/drawing/2014/main" id="{9196B358-246D-4D3E-9DC3-F71EE3FEF8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48" r="-1" b="29747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0136A8-455B-46B4-8D05-1E462626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 dirty="0"/>
              <a:t>Module 1 Question:</a:t>
            </a: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B6FE7074-D112-4F55-A6FD-15E11174B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When did the Cultural Revolution begin, who launched it, and Why?</a:t>
            </a:r>
          </a:p>
          <a:p>
            <a:r>
              <a:rPr lang="en-US" sz="1700" dirty="0"/>
              <a:t>Why did so many Chinese citizens go along with the Cultural Revolution?</a:t>
            </a:r>
          </a:p>
        </p:txBody>
      </p:sp>
    </p:spTree>
    <p:extLst>
      <p:ext uri="{BB962C8B-B14F-4D97-AF65-F5344CB8AC3E}">
        <p14:creationId xmlns:p14="http://schemas.microsoft.com/office/powerpoint/2010/main" val="3293936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Liu Shaoqi, Mao Zedong, Peng Chen, Zhu De, and Zhou Enlai on the Tienanmen rostrum.">
            <a:extLst>
              <a:ext uri="{FF2B5EF4-FFF2-40B4-BE49-F238E27FC236}">
                <a16:creationId xmlns:a16="http://schemas.microsoft.com/office/drawing/2014/main" id="{446E3784-6546-4D1D-9515-1E3F48A199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1" r="11929" b="-1"/>
          <a:stretch/>
        </p:blipFill>
        <p:spPr bwMode="auto">
          <a:xfrm>
            <a:off x="-1" y="10"/>
            <a:ext cx="609600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rowd of young Red Guards reading from the writings of Chinese leader Mao Zedong and chanting in unison.">
            <a:extLst>
              <a:ext uri="{FF2B5EF4-FFF2-40B4-BE49-F238E27FC236}">
                <a16:creationId xmlns:a16="http://schemas.microsoft.com/office/drawing/2014/main" id="{03C51A00-201A-42A8-B99F-BE1B43494A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77" r="-2" b="-2"/>
          <a:stretch/>
        </p:blipFill>
        <p:spPr bwMode="auto">
          <a:xfrm>
            <a:off x="6097523" y="10"/>
            <a:ext cx="609447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524F69-C063-4E8A-B724-0E442D0A9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>
                <a:solidFill>
                  <a:schemeClr val="bg1"/>
                </a:solidFill>
              </a:rPr>
              <a:t>Module Theme: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12247-9FBE-43F8-9A09-721CCC50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553" y="5624945"/>
            <a:ext cx="9078562" cy="5929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800">
                <a:solidFill>
                  <a:schemeClr val="bg1"/>
                </a:solidFill>
              </a:rPr>
              <a:t>Political Rivalries &amp; Popular Energy </a:t>
            </a:r>
          </a:p>
        </p:txBody>
      </p:sp>
    </p:spTree>
    <p:extLst>
      <p:ext uri="{BB962C8B-B14F-4D97-AF65-F5344CB8AC3E}">
        <p14:creationId xmlns:p14="http://schemas.microsoft.com/office/powerpoint/2010/main" val="2244926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" descr="The newly-built Sanliho Road out of the Fuhsing Gate with grand new buildings. 1964.">
            <a:extLst>
              <a:ext uri="{FF2B5EF4-FFF2-40B4-BE49-F238E27FC236}">
                <a16:creationId xmlns:a16="http://schemas.microsoft.com/office/drawing/2014/main" id="{A48758C3-57EC-454B-B9A7-DE67DA58C0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18" r="-2" b="5613"/>
          <a:stretch/>
        </p:blipFill>
        <p:spPr bwMode="auto">
          <a:xfrm>
            <a:off x="4883025" y="10"/>
            <a:ext cx="7308975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Nearly completed housing construction in the Eastern suburbs of Peking . September 1961.">
            <a:extLst>
              <a:ext uri="{FF2B5EF4-FFF2-40B4-BE49-F238E27FC236}">
                <a16:creationId xmlns:a16="http://schemas.microsoft.com/office/drawing/2014/main" id="{369A2522-FB66-4AE2-8C4A-AFFEF2990F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20" r="-2" b="4135"/>
          <a:stretch/>
        </p:blipFill>
        <p:spPr bwMode="auto">
          <a:xfrm>
            <a:off x="4883025" y="3493008"/>
            <a:ext cx="7308975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F429B7-AF97-4B4A-95D0-DE2B1474B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859536"/>
            <a:ext cx="4832802" cy="1243584"/>
          </a:xfrm>
        </p:spPr>
        <p:txBody>
          <a:bodyPr>
            <a:normAutofit/>
          </a:bodyPr>
          <a:lstStyle/>
          <a:p>
            <a:r>
              <a:rPr lang="en-US" sz="3400" dirty="0">
                <a:solidFill>
                  <a:schemeClr val="bg1"/>
                </a:solidFill>
              </a:rPr>
              <a:t>After the Great Leap Forward 1961-1965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DBE187-3BC1-4E4C-99C1-7DC482BA4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2512611"/>
            <a:ext cx="4832803" cy="3664351"/>
          </a:xfrm>
        </p:spPr>
        <p:txBody>
          <a:bodyPr>
            <a:normAutofit fontScale="85000" lnSpcReduction="10000"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Under Liu Shaoqi and Deng Xiaoping</a:t>
            </a:r>
          </a:p>
          <a:p>
            <a:r>
              <a:rPr lang="en-US" sz="2000" dirty="0">
                <a:solidFill>
                  <a:schemeClr val="bg1"/>
                </a:solidFill>
              </a:rPr>
              <a:t>Agricultural Production Bounces Back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Grain Output Up: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 193,000,000 (1961) tons to 240,000,000 (1965)</a:t>
            </a:r>
          </a:p>
          <a:p>
            <a:r>
              <a:rPr lang="en-US" sz="2000" dirty="0">
                <a:solidFill>
                  <a:schemeClr val="bg1"/>
                </a:solidFill>
              </a:rPr>
              <a:t>Urban Industrial Production Bounces Back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Industrial Production Up: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11% Growth Rate (Annually)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7% Industrial Employment Growth (Annually)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Productivity Up 5.5 Percent Annually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Cities Grew Quickly, The Countryside Grew Slowly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Healthcare and Education Unevenly Distributed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  <a:p>
            <a:pPr marL="457200" lvl="1" indent="0"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890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Mao Ze Dong *26.12.1893-+ Politician; Chairman of the Communist Party of China; People's Republic of China - 1959">
            <a:extLst>
              <a:ext uri="{FF2B5EF4-FFF2-40B4-BE49-F238E27FC236}">
                <a16:creationId xmlns:a16="http://schemas.microsoft.com/office/drawing/2014/main" id="{D5A22172-DEC8-4B94-927F-EB23364170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56" r="-1" b="29809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096133-B6FF-49C2-A9EA-909F54C1A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5728"/>
          </a:xfrm>
        </p:spPr>
        <p:txBody>
          <a:bodyPr anchor="b">
            <a:normAutofit/>
          </a:bodyPr>
          <a:lstStyle/>
          <a:p>
            <a:r>
              <a:rPr lang="en-US" sz="2800" dirty="0"/>
              <a:t>Mao Criticized (1962-1965)?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F7839-2712-4F8E-B3F9-AAAA4955B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540006"/>
            <a:ext cx="3999570" cy="4146020"/>
          </a:xfrm>
        </p:spPr>
        <p:txBody>
          <a:bodyPr anchor="t">
            <a:normAutofit fontScale="92500"/>
          </a:bodyPr>
          <a:lstStyle/>
          <a:p>
            <a:r>
              <a:rPr lang="en-US" sz="1700" dirty="0"/>
              <a:t>Angry Mao: </a:t>
            </a:r>
          </a:p>
          <a:p>
            <a:pPr lvl="1"/>
            <a:r>
              <a:rPr lang="en-US" sz="1300" dirty="0"/>
              <a:t>Mao believed he was “treated as a dead ancestor.” </a:t>
            </a:r>
          </a:p>
          <a:p>
            <a:pPr lvl="1"/>
            <a:r>
              <a:rPr lang="en-US" sz="1300" dirty="0"/>
              <a:t>Deng Xiaoping “never came to consult me.” “From 1959 to the present (1966) he has never consulted me over anything at all.”</a:t>
            </a:r>
          </a:p>
          <a:p>
            <a:r>
              <a:rPr lang="en-US" sz="1700" dirty="0"/>
              <a:t>Critics of Mao:</a:t>
            </a:r>
          </a:p>
          <a:p>
            <a:pPr lvl="1"/>
            <a:r>
              <a:rPr lang="en-US" sz="1300" dirty="0"/>
              <a:t>Wu Han’s </a:t>
            </a:r>
            <a:r>
              <a:rPr lang="en-US" sz="1300" i="1" dirty="0"/>
              <a:t>Hai Rui Dismissed from Office</a:t>
            </a:r>
          </a:p>
          <a:p>
            <a:pPr lvl="2"/>
            <a:r>
              <a:rPr lang="en-US" sz="900" dirty="0"/>
              <a:t>A Great Leap Forward play made with Mao’s approval to combat dishonest reporting of output figures. Hai Rui was an honest Ming official who lost his job after challenging a tyrannical emperor.</a:t>
            </a:r>
          </a:p>
          <a:p>
            <a:pPr lvl="2"/>
            <a:r>
              <a:rPr lang="en-US" sz="900" dirty="0"/>
              <a:t>Jiang Qing and Yao </a:t>
            </a:r>
            <a:r>
              <a:rPr lang="en-US" sz="900" dirty="0" err="1"/>
              <a:t>Wenyuan</a:t>
            </a:r>
            <a:r>
              <a:rPr lang="en-US" sz="900" dirty="0"/>
              <a:t> argued the play was an attack on Mao. </a:t>
            </a:r>
          </a:p>
          <a:p>
            <a:pPr lvl="2"/>
            <a:r>
              <a:rPr lang="en-US" sz="900" dirty="0"/>
              <a:t>Yao </a:t>
            </a:r>
            <a:r>
              <a:rPr lang="en-US" sz="900" dirty="0" err="1"/>
              <a:t>Wenyuan</a:t>
            </a:r>
            <a:r>
              <a:rPr lang="en-US" sz="900" dirty="0"/>
              <a:t>: The play misrepresented the history and contained messages that aimed to push people to demolish the people’s communes. “Anyone wanting to overthrow a political regime must create public opinion and do some preparatory ideological work.” </a:t>
            </a:r>
          </a:p>
        </p:txBody>
      </p:sp>
    </p:spTree>
    <p:extLst>
      <p:ext uri="{BB962C8B-B14F-4D97-AF65-F5344CB8AC3E}">
        <p14:creationId xmlns:p14="http://schemas.microsoft.com/office/powerpoint/2010/main" val="4000061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9B30DD3B-4D94-4778-B82C-9B0E550992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1" b="-1"/>
          <a:stretch/>
        </p:blipFill>
        <p:spPr bwMode="auto">
          <a:xfrm>
            <a:off x="7364078" y="-18"/>
            <a:ext cx="4827922" cy="6857999"/>
          </a:xfrm>
          <a:custGeom>
            <a:avLst/>
            <a:gdLst/>
            <a:ahLst/>
            <a:cxnLst/>
            <a:rect l="l" t="t" r="r" b="b"/>
            <a:pathLst>
              <a:path w="4827922" h="6858000">
                <a:moveTo>
                  <a:pt x="4441" y="0"/>
                </a:moveTo>
                <a:lnTo>
                  <a:pt x="4827922" y="0"/>
                </a:lnTo>
                <a:lnTo>
                  <a:pt x="4827922" y="6858000"/>
                </a:lnTo>
                <a:lnTo>
                  <a:pt x="0" y="6858000"/>
                </a:lnTo>
                <a:lnTo>
                  <a:pt x="106674" y="6638378"/>
                </a:lnTo>
                <a:cubicBezTo>
                  <a:pt x="530028" y="5720938"/>
                  <a:pt x="777229" y="4614948"/>
                  <a:pt x="777229" y="3424428"/>
                </a:cubicBezTo>
                <a:cubicBezTo>
                  <a:pt x="777229" y="2233909"/>
                  <a:pt x="530028" y="1127919"/>
                  <a:pt x="106674" y="210478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34A44CC-3FB8-4B62-918B-465C880D64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62"/>
          <a:stretch/>
        </p:blipFill>
        <p:spPr bwMode="auto">
          <a:xfrm>
            <a:off x="3119360" y="18"/>
            <a:ext cx="4966290" cy="6857999"/>
          </a:xfrm>
          <a:custGeom>
            <a:avLst/>
            <a:gdLst/>
            <a:ahLst/>
            <a:cxnLst/>
            <a:rect l="l" t="t" r="r" b="b"/>
            <a:pathLst>
              <a:path w="4966290" h="6857999">
                <a:moveTo>
                  <a:pt x="0" y="0"/>
                </a:moveTo>
                <a:lnTo>
                  <a:pt x="4188230" y="0"/>
                </a:lnTo>
                <a:lnTo>
                  <a:pt x="4295735" y="210478"/>
                </a:lnTo>
                <a:cubicBezTo>
                  <a:pt x="4719089" y="1127919"/>
                  <a:pt x="4966290" y="2233909"/>
                  <a:pt x="4966290" y="3424428"/>
                </a:cubicBezTo>
                <a:cubicBezTo>
                  <a:pt x="4966290" y="4614948"/>
                  <a:pt x="4719089" y="5720938"/>
                  <a:pt x="4295735" y="6638378"/>
                </a:cubicBezTo>
                <a:lnTo>
                  <a:pt x="4183560" y="6857999"/>
                </a:lnTo>
                <a:lnTo>
                  <a:pt x="53039" y="6857999"/>
                </a:lnTo>
                <a:lnTo>
                  <a:pt x="132047" y="6695338"/>
                </a:lnTo>
                <a:cubicBezTo>
                  <a:pt x="555401" y="5777898"/>
                  <a:pt x="802602" y="4671908"/>
                  <a:pt x="802602" y="3481388"/>
                </a:cubicBezTo>
                <a:cubicBezTo>
                  <a:pt x="802602" y="2191659"/>
                  <a:pt x="512484" y="1001134"/>
                  <a:pt x="22579" y="4206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D443F4-B710-4BAD-A37F-B691682CA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125786"/>
            <a:ext cx="2804504" cy="1880815"/>
          </a:xfrm>
        </p:spPr>
        <p:txBody>
          <a:bodyPr anchor="ctr">
            <a:normAutofit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The Cultural Revolution 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en-US" sz="2600" dirty="0">
                <a:solidFill>
                  <a:schemeClr val="bg1"/>
                </a:solidFill>
              </a:rPr>
              <a:t>(Phase I): The Political Phase</a:t>
            </a:r>
          </a:p>
        </p:txBody>
      </p:sp>
      <p:sp>
        <p:nvSpPr>
          <p:cNvPr id="1036" name="Content Placeholder 1029">
            <a:extLst>
              <a:ext uri="{FF2B5EF4-FFF2-40B4-BE49-F238E27FC236}">
                <a16:creationId xmlns:a16="http://schemas.microsoft.com/office/drawing/2014/main" id="{C9800D0A-C9F9-4E3B-963F-F6B6ED896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2258171"/>
            <a:ext cx="2804504" cy="4235362"/>
          </a:xfrm>
        </p:spPr>
        <p:txBody>
          <a:bodyPr>
            <a:normAutofit fontScale="55000" lnSpcReduction="20000"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Begins in 1965-1966 with attacks on Wu Han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Academic to Political</a:t>
            </a:r>
          </a:p>
          <a:p>
            <a:r>
              <a:rPr lang="en-US" sz="2200" dirty="0">
                <a:solidFill>
                  <a:schemeClr val="bg1"/>
                </a:solidFill>
              </a:rPr>
              <a:t>Creation of the Central Cultural Revolution Group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Including Yao </a:t>
            </a:r>
            <a:r>
              <a:rPr lang="en-US" sz="1800" dirty="0" err="1">
                <a:solidFill>
                  <a:schemeClr val="bg1"/>
                </a:solidFill>
              </a:rPr>
              <a:t>Wenyuan</a:t>
            </a:r>
            <a:r>
              <a:rPr lang="en-US" sz="1800" dirty="0">
                <a:solidFill>
                  <a:schemeClr val="bg1"/>
                </a:solidFill>
              </a:rPr>
              <a:t> &amp; Jiang Qing (Mao’s wife)</a:t>
            </a:r>
          </a:p>
          <a:p>
            <a:r>
              <a:rPr lang="en-US" sz="2200" dirty="0">
                <a:solidFill>
                  <a:schemeClr val="bg1"/>
                </a:solidFill>
              </a:rPr>
              <a:t>Early Purges (1966)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Liu </a:t>
            </a:r>
            <a:r>
              <a:rPr lang="en-US" sz="1800" dirty="0" err="1">
                <a:solidFill>
                  <a:schemeClr val="bg1"/>
                </a:solidFill>
              </a:rPr>
              <a:t>Ruiqing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40 Years as a member of the CCP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Long military and security career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Crimes: Anti-party activity, suicide attempt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Peng Zhen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40 Years of service in CCP</a:t>
            </a:r>
          </a:p>
          <a:p>
            <a:pPr lvl="2"/>
            <a:r>
              <a:rPr lang="en-US" sz="1400" dirty="0">
                <a:solidFill>
                  <a:schemeClr val="bg1"/>
                </a:solidFill>
              </a:rPr>
              <a:t>Crime: Accused of being an associate of Wu Han</a:t>
            </a:r>
          </a:p>
          <a:p>
            <a:r>
              <a:rPr lang="en-US" sz="2200" dirty="0">
                <a:solidFill>
                  <a:schemeClr val="bg1"/>
                </a:solidFill>
              </a:rPr>
              <a:t>Politburo Standing Committee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Liu Shaoqi, Zhou Enlai, Zhu De, Deng Xiaoping (fail to intervene)</a:t>
            </a:r>
          </a:p>
          <a:p>
            <a:endParaRPr lang="en-US" sz="2600" dirty="0"/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33900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88797-049A-47EA-855B-C666988D6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329321"/>
            <a:ext cx="3657600" cy="1645920"/>
          </a:xfrm>
        </p:spPr>
        <p:txBody>
          <a:bodyPr>
            <a:normAutofit fontScale="90000"/>
          </a:bodyPr>
          <a:lstStyle/>
          <a:p>
            <a:r>
              <a:rPr lang="en-US" sz="3200" u="sng" dirty="0">
                <a:solidFill>
                  <a:schemeClr val="bg1"/>
                </a:solidFill>
              </a:rPr>
              <a:t>Cultural Revolution (Phase II): </a:t>
            </a:r>
            <a:r>
              <a:rPr lang="en-US" sz="3200" dirty="0">
                <a:solidFill>
                  <a:schemeClr val="bg1"/>
                </a:solidFill>
              </a:rPr>
              <a:t>The Red Guard Phase</a:t>
            </a:r>
          </a:p>
        </p:txBody>
      </p:sp>
      <p:pic>
        <p:nvPicPr>
          <p:cNvPr id="2052" name="Picture 4" descr="Chinese Cultural Revolution Poster">
            <a:extLst>
              <a:ext uri="{FF2B5EF4-FFF2-40B4-BE49-F238E27FC236}">
                <a16:creationId xmlns:a16="http://schemas.microsoft.com/office/drawing/2014/main" id="{6E7D6607-D28A-4D3C-963F-5B28C21B70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416"/>
          <a:stretch/>
        </p:blipFill>
        <p:spPr bwMode="auto">
          <a:xfrm>
            <a:off x="863832" y="361910"/>
            <a:ext cx="4874302" cy="348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mall group of Chinese youths walk past several dazibao, the revolutionary placards, in February 1967 in downtown Beijing, during the &quot;great...">
            <a:extLst>
              <a:ext uri="{FF2B5EF4-FFF2-40B4-BE49-F238E27FC236}">
                <a16:creationId xmlns:a16="http://schemas.microsoft.com/office/drawing/2014/main" id="{D55491C8-518F-4F94-ABC4-300CF21FB7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0" b="-3"/>
          <a:stretch/>
        </p:blipFill>
        <p:spPr bwMode="auto">
          <a:xfrm>
            <a:off x="6534590" y="357251"/>
            <a:ext cx="4851569" cy="348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A920E-3092-479F-B81A-42B318D86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106" y="4329321"/>
            <a:ext cx="6106742" cy="1645920"/>
          </a:xfrm>
        </p:spPr>
        <p:txBody>
          <a:bodyPr anchor="ctr">
            <a:normAutofit fontScale="85000" lnSpcReduction="20000"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Cultural Revolution first spreads to the people through universities.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May 25, 1966: </a:t>
            </a:r>
            <a:r>
              <a:rPr lang="en-US" sz="1400" dirty="0" err="1">
                <a:solidFill>
                  <a:schemeClr val="bg1"/>
                </a:solidFill>
              </a:rPr>
              <a:t>Nie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Yuanzi</a:t>
            </a:r>
            <a:r>
              <a:rPr lang="en-US" sz="1400" dirty="0">
                <a:solidFill>
                  <a:schemeClr val="bg1"/>
                </a:solidFill>
              </a:rPr>
              <a:t> posts first “big character poster” at Beijing University attacking the university president for suppressing student discussions of the Wu Han affair. 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Poster reproduced throughout China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Liu Shaoqi &amp; Deng attempts to “control” the movement with work teams.</a:t>
            </a:r>
          </a:p>
        </p:txBody>
      </p:sp>
    </p:spTree>
    <p:extLst>
      <p:ext uri="{BB962C8B-B14F-4D97-AF65-F5344CB8AC3E}">
        <p14:creationId xmlns:p14="http://schemas.microsoft.com/office/powerpoint/2010/main" val="924829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E1E65-9A90-495D-9873-F8D729C2A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7223" y="557189"/>
            <a:ext cx="3826577" cy="1671566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The Red Guard</a:t>
            </a:r>
          </a:p>
        </p:txBody>
      </p:sp>
      <p:pic>
        <p:nvPicPr>
          <p:cNvPr id="3080" name="Picture 8" descr="Communist soldiers from the East river unit, with among them several women, song an hymn to Mao Tse Tung glory as they arrive in Sham Chum, three...">
            <a:extLst>
              <a:ext uri="{FF2B5EF4-FFF2-40B4-BE49-F238E27FC236}">
                <a16:creationId xmlns:a16="http://schemas.microsoft.com/office/drawing/2014/main" id="{0A10EE7E-926C-451E-BDFD-CF8727922E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26" r="3115" b="-2"/>
          <a:stretch/>
        </p:blipFill>
        <p:spPr bwMode="auto">
          <a:xfrm>
            <a:off x="20" y="-1"/>
            <a:ext cx="3997732" cy="4469126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  <p:pic>
        <p:nvPicPr>
          <p:cNvPr id="3078" name="Picture 6" descr="A poster is displayed in late 1966 in Beijing's st">
            <a:extLst>
              <a:ext uri="{FF2B5EF4-FFF2-40B4-BE49-F238E27FC236}">
                <a16:creationId xmlns:a16="http://schemas.microsoft.com/office/drawing/2014/main" id="{5A5239F5-64F1-4AE3-8650-D3359CC920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28297"/>
          <a:stretch/>
        </p:blipFill>
        <p:spPr bwMode="auto">
          <a:xfrm>
            <a:off x="4184069" y="-2"/>
            <a:ext cx="3027239" cy="2226220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  <p:pic>
        <p:nvPicPr>
          <p:cNvPr id="3076" name="Picture 4" descr="Young members of the Maoist, Red Guard, armed with bayonet rifles.">
            <a:extLst>
              <a:ext uri="{FF2B5EF4-FFF2-40B4-BE49-F238E27FC236}">
                <a16:creationId xmlns:a16="http://schemas.microsoft.com/office/drawing/2014/main" id="{0F2C53A5-391E-4297-B96D-B9551C9B6E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08" b="-6"/>
          <a:stretch/>
        </p:blipFill>
        <p:spPr bwMode="auto">
          <a:xfrm>
            <a:off x="4184069" y="2406570"/>
            <a:ext cx="3027239" cy="2050948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  <p:pic>
        <p:nvPicPr>
          <p:cNvPr id="3074" name="Picture 2" descr="Red Guards waving the works of MAO whose thought they are defending against the revisionists during a student meeting. In Beijing the vice-minister...">
            <a:extLst>
              <a:ext uri="{FF2B5EF4-FFF2-40B4-BE49-F238E27FC236}">
                <a16:creationId xmlns:a16="http://schemas.microsoft.com/office/drawing/2014/main" id="{0909F7C5-CDE0-48DC-9A1B-09A11EC81B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50" b="-4"/>
          <a:stretch/>
        </p:blipFill>
        <p:spPr bwMode="auto">
          <a:xfrm>
            <a:off x="-3717" y="4638290"/>
            <a:ext cx="3020892" cy="2219710"/>
          </a:xfrm>
          <a:prstGeom prst="rect">
            <a:avLst/>
          </a:prstGeom>
          <a:solidFill>
            <a:srgbClr val="FFFFFF">
              <a:shade val="85000"/>
            </a:srgbClr>
          </a:solidFill>
        </p:spPr>
      </p:pic>
      <p:pic>
        <p:nvPicPr>
          <p:cNvPr id="3082" name="Picture 10" descr="A Photographer's Quest to Reverse China's Historical Amnesia - The New York  Times">
            <a:extLst>
              <a:ext uri="{FF2B5EF4-FFF2-40B4-BE49-F238E27FC236}">
                <a16:creationId xmlns:a16="http://schemas.microsoft.com/office/drawing/2014/main" id="{FC52E0BA-0198-42BC-AC05-FA1331C5C2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29" r="3" b="5277"/>
          <a:stretch/>
        </p:blipFill>
        <p:spPr bwMode="auto">
          <a:xfrm>
            <a:off x="3184628" y="4629236"/>
            <a:ext cx="4026679" cy="2228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6" name="Content Placeholder 3085">
            <a:extLst>
              <a:ext uri="{FF2B5EF4-FFF2-40B4-BE49-F238E27FC236}">
                <a16:creationId xmlns:a16="http://schemas.microsoft.com/office/drawing/2014/main" id="{20A0D039-7933-4F92-840F-08A4AF48E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7222" y="1597891"/>
            <a:ext cx="4461577" cy="5024582"/>
          </a:xfrm>
        </p:spPr>
        <p:txBody>
          <a:bodyPr>
            <a:normAutofit fontScale="77500" lnSpcReduction="20000"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Bombard the Headquarters (August 1966)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Mao pens letter in support of Red Guard.</a:t>
            </a:r>
          </a:p>
          <a:p>
            <a:pPr lvl="1"/>
            <a:r>
              <a:rPr lang="en-US" sz="1500" dirty="0">
                <a:solidFill>
                  <a:schemeClr val="bg1"/>
                </a:solidFill>
              </a:rPr>
              <a:t>But in the last fifty days or so some leading comrades from the </a:t>
            </a:r>
            <a:r>
              <a:rPr lang="en-US" sz="1500" dirty="0">
                <a:solidFill>
                  <a:srgbClr val="C00000"/>
                </a:solidFill>
              </a:rPr>
              <a:t>central down to the local levels </a:t>
            </a:r>
            <a:r>
              <a:rPr lang="en-US" sz="1500" dirty="0">
                <a:solidFill>
                  <a:schemeClr val="bg1"/>
                </a:solidFill>
              </a:rPr>
              <a:t>have acted in a diametrically opposite way. Adopting the reactionary stand of the bourgeoisie, </a:t>
            </a:r>
            <a:r>
              <a:rPr lang="en-US" sz="1500" dirty="0">
                <a:solidFill>
                  <a:srgbClr val="C00000"/>
                </a:solidFill>
              </a:rPr>
              <a:t>they have enforced a bourgeois dictatorship and struck down the surging movement of the great cultural revolution of the proletariat</a:t>
            </a:r>
            <a:r>
              <a:rPr lang="en-US" sz="1500" dirty="0">
                <a:solidFill>
                  <a:schemeClr val="bg1"/>
                </a:solidFill>
              </a:rPr>
              <a:t>…</a:t>
            </a:r>
            <a:r>
              <a:rPr lang="en-US" sz="15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How poisonous! Viewed in connection with the </a:t>
            </a:r>
            <a:r>
              <a:rPr lang="en-US" sz="15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Right deviation in 1962</a:t>
            </a:r>
            <a:r>
              <a:rPr lang="en-US" sz="15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and the </a:t>
            </a:r>
            <a:r>
              <a:rPr lang="en-US" sz="15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wrong tendency of 1964 </a:t>
            </a:r>
            <a:r>
              <a:rPr lang="en-US" sz="15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which was </a:t>
            </a:r>
            <a:r>
              <a:rPr lang="en-US" sz="1500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</a:rPr>
              <a:t>‘Left’ in form but Right in essence</a:t>
            </a:r>
            <a:r>
              <a:rPr lang="en-US" sz="15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, shouldn’t this make one wide awake?</a:t>
            </a:r>
            <a:endParaRPr lang="en-US" sz="19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Tens of Millions of Red Guards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“It is justified to Rebel”  “destruction before construction”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Free Travel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Destroy the “Four </a:t>
            </a:r>
            <a:r>
              <a:rPr lang="en-US" sz="1600" dirty="0" err="1">
                <a:solidFill>
                  <a:schemeClr val="bg1"/>
                </a:solidFill>
              </a:rPr>
              <a:t>Olds</a:t>
            </a:r>
            <a:r>
              <a:rPr lang="en-US" sz="1600" dirty="0">
                <a:solidFill>
                  <a:schemeClr val="bg1"/>
                </a:solidFill>
              </a:rPr>
              <a:t>”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Old Ideas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Old Culture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Old habits</a:t>
            </a:r>
          </a:p>
          <a:p>
            <a:pPr lvl="2"/>
            <a:r>
              <a:rPr lang="en-US" sz="1200" dirty="0">
                <a:solidFill>
                  <a:schemeClr val="bg1"/>
                </a:solidFill>
              </a:rPr>
              <a:t>Old Customs</a:t>
            </a:r>
          </a:p>
          <a:p>
            <a:pPr lvl="1"/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572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7EA0F-4391-4A7D-8150-892C6E752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131298" cy="110642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Eliminating </a:t>
            </a:r>
            <a:r>
              <a:rPr lang="en-US" sz="3600">
                <a:solidFill>
                  <a:schemeClr val="bg1"/>
                </a:solidFill>
              </a:rPr>
              <a:t>Mao’s Rivals (1968-1969)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4098" name="Picture 2" descr="Chairman Liu Shaoqi . 1962.">
            <a:extLst>
              <a:ext uri="{FF2B5EF4-FFF2-40B4-BE49-F238E27FC236}">
                <a16:creationId xmlns:a16="http://schemas.microsoft.com/office/drawing/2014/main" id="{D2E56F7C-5342-42B1-A31C-F91F6D91DC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533"/>
          <a:stretch/>
        </p:blipFill>
        <p:spPr bwMode="auto">
          <a:xfrm>
            <a:off x="429767" y="1721922"/>
            <a:ext cx="3419856" cy="452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hinese politician Deng Xiaoping , leader of the Chinese Communist Party.">
            <a:extLst>
              <a:ext uri="{FF2B5EF4-FFF2-40B4-BE49-F238E27FC236}">
                <a16:creationId xmlns:a16="http://schemas.microsoft.com/office/drawing/2014/main" id="{996E9175-4EED-4C18-AB12-575BC68F7F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8" r="-1" b="-1"/>
          <a:stretch/>
        </p:blipFill>
        <p:spPr bwMode="auto">
          <a:xfrm>
            <a:off x="4226837" y="1721922"/>
            <a:ext cx="3420596" cy="452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07331-FB57-4041-A817-6D7516476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9348" y="2020824"/>
            <a:ext cx="2956060" cy="3959352"/>
          </a:xfrm>
        </p:spPr>
        <p:txBody>
          <a:bodyPr anchor="ctr">
            <a:normAutofit fontScale="85000" lnSpcReduction="20000"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Mao’s &amp; the Red Guard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Mao maintained loose political and ideological control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Used the Cultural Revolution to attack his rivals </a:t>
            </a:r>
          </a:p>
          <a:p>
            <a:r>
              <a:rPr lang="en-US" sz="1800" dirty="0">
                <a:solidFill>
                  <a:schemeClr val="bg1"/>
                </a:solidFill>
              </a:rPr>
              <a:t>Deng and Liu the most dangerous “capitalist roaders”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Deng Xiaoping deposed sent to work in a tire factory (1969)</a:t>
            </a:r>
          </a:p>
          <a:p>
            <a:pPr lvl="1"/>
            <a:r>
              <a:rPr lang="en-US" sz="1400" dirty="0">
                <a:solidFill>
                  <a:schemeClr val="bg1"/>
                </a:solidFill>
              </a:rPr>
              <a:t>Liu Shaoqi was accused of being an “enemy of the people.” He was subsequently denounced, imprisoned, beaten, denied medication. Dies in November of 1969. </a:t>
            </a:r>
          </a:p>
        </p:txBody>
      </p:sp>
    </p:spTree>
    <p:extLst>
      <p:ext uri="{BB962C8B-B14F-4D97-AF65-F5344CB8AC3E}">
        <p14:creationId xmlns:p14="http://schemas.microsoft.com/office/powerpoint/2010/main" val="4247561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D628C-2473-4CC3-82BF-0B3FEDF78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 fontScale="90000"/>
          </a:bodyPr>
          <a:lstStyle/>
          <a:p>
            <a:r>
              <a:rPr lang="en-US" sz="3700" dirty="0">
                <a:solidFill>
                  <a:srgbClr val="FF0000"/>
                </a:solidFill>
              </a:rPr>
              <a:t>Fate of the Red Guard &amp; Ultra-Leftist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7489E-5081-4F49-8B9C-FBCA157DD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 lnSpcReduction="10000"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1968 Red Guard suppressed by People’s Liberation Army.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At times involving military engagements</a:t>
            </a:r>
          </a:p>
          <a:p>
            <a:r>
              <a:rPr lang="en-US" sz="2000" dirty="0">
                <a:solidFill>
                  <a:schemeClr val="bg1"/>
                </a:solidFill>
              </a:rPr>
              <a:t>1968 Mao publishes order banishing the Red Guard youths from China’s cities. Between 1968 and 1980,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</a:rPr>
              <a:t>17,000,000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Red Guard are sent to live in the countryside.</a:t>
            </a:r>
          </a:p>
          <a:p>
            <a:r>
              <a:rPr lang="en-US" sz="2000" dirty="0">
                <a:solidFill>
                  <a:schemeClr val="bg1"/>
                </a:solidFill>
              </a:rPr>
              <a:t>Lost Generation</a:t>
            </a:r>
          </a:p>
          <a:p>
            <a:pPr lvl="1"/>
            <a:r>
              <a:rPr lang="en-US" sz="1600" dirty="0">
                <a:solidFill>
                  <a:schemeClr val="bg1"/>
                </a:solidFill>
              </a:rPr>
              <a:t>Many would not return until into the 1980s</a:t>
            </a:r>
          </a:p>
        </p:txBody>
      </p:sp>
      <p:pic>
        <p:nvPicPr>
          <p:cNvPr id="5122" name="Picture 2" descr="Peking, China-: Red guards parade through street carrying a portrait of Mao Tse-Tung and red flags. BPA2">
            <a:extLst>
              <a:ext uri="{FF2B5EF4-FFF2-40B4-BE49-F238E27FC236}">
                <a16:creationId xmlns:a16="http://schemas.microsoft.com/office/drawing/2014/main" id="{35FF36C8-F672-4F48-B002-3A1C5150D5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9" r="4" b="4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844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FFA6D-B2DD-4393-867E-C5331B6BB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678" y="343436"/>
            <a:ext cx="4391024" cy="1323439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The Fall of Lin Biao</a:t>
            </a:r>
          </a:p>
        </p:txBody>
      </p:sp>
      <p:pic>
        <p:nvPicPr>
          <p:cNvPr id="2050" name="Picture 2" descr="Marschall Lin Piao *-+Politiker China - Portrait in Marschallsuniform- undatierte Aufnahme">
            <a:extLst>
              <a:ext uri="{FF2B5EF4-FFF2-40B4-BE49-F238E27FC236}">
                <a16:creationId xmlns:a16="http://schemas.microsoft.com/office/drawing/2014/main" id="{AE074BBC-333E-46C2-84CB-9ED338361D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23" b="36574"/>
          <a:stretch/>
        </p:blipFill>
        <p:spPr bwMode="auto">
          <a:xfrm>
            <a:off x="20" y="1"/>
            <a:ext cx="6088360" cy="3333749"/>
          </a:xfrm>
          <a:custGeom>
            <a:avLst/>
            <a:gdLst/>
            <a:ahLst/>
            <a:cxnLst/>
            <a:rect l="l" t="t" r="r" b="b"/>
            <a:pathLst>
              <a:path w="6088380" h="3333749">
                <a:moveTo>
                  <a:pt x="0" y="0"/>
                </a:moveTo>
                <a:lnTo>
                  <a:pt x="6088380" y="0"/>
                </a:lnTo>
                <a:lnTo>
                  <a:pt x="6088380" y="2202180"/>
                </a:lnTo>
                <a:lnTo>
                  <a:pt x="5913795" y="3333749"/>
                </a:lnTo>
                <a:lnTo>
                  <a:pt x="0" y="333374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hairman Mao Zedong and Lin Biao, Mao's right-hand man during the Cultural Revolution, at the 9th Party Congress in Beijing. Lin Biao later died...">
            <a:extLst>
              <a:ext uri="{FF2B5EF4-FFF2-40B4-BE49-F238E27FC236}">
                <a16:creationId xmlns:a16="http://schemas.microsoft.com/office/drawing/2014/main" id="{6DE32401-F50E-4CE1-8B97-F6DE66EA10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087"/>
          <a:stretch/>
        </p:blipFill>
        <p:spPr bwMode="auto">
          <a:xfrm>
            <a:off x="20" y="3524252"/>
            <a:ext cx="6088360" cy="3333748"/>
          </a:xfrm>
          <a:custGeom>
            <a:avLst/>
            <a:gdLst/>
            <a:ahLst/>
            <a:cxnLst/>
            <a:rect l="l" t="t" r="r" b="b"/>
            <a:pathLst>
              <a:path w="6088380" h="3333748">
                <a:moveTo>
                  <a:pt x="0" y="0"/>
                </a:moveTo>
                <a:lnTo>
                  <a:pt x="5884403" y="0"/>
                </a:lnTo>
                <a:lnTo>
                  <a:pt x="5882640" y="11428"/>
                </a:lnTo>
                <a:lnTo>
                  <a:pt x="5562600" y="1931668"/>
                </a:lnTo>
                <a:lnTo>
                  <a:pt x="6088380" y="3333748"/>
                </a:lnTo>
                <a:lnTo>
                  <a:pt x="0" y="333374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8628A-5802-486B-9CEC-487DEC82D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677" y="1221641"/>
            <a:ext cx="4610013" cy="5292923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Lin Biao</a:t>
            </a:r>
          </a:p>
          <a:p>
            <a:pPr lvl="1"/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One of Mao’s most trusted military leaders</a:t>
            </a:r>
          </a:p>
          <a:p>
            <a:pPr lvl="1"/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Designated Mao’s successor</a:t>
            </a:r>
          </a:p>
          <a:p>
            <a:pPr lvl="1"/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Key player in building Mao’s Cult of Personality within the People’s Liberation Army and the country more broadly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Rebuilding the Party</a:t>
            </a:r>
          </a:p>
          <a:p>
            <a:pPr lvl="1"/>
            <a:r>
              <a:rPr lang="en-US" sz="1600" dirty="0">
                <a:solidFill>
                  <a:schemeClr val="bg1">
                    <a:alpha val="80000"/>
                  </a:schemeClr>
                </a:solidFill>
              </a:rPr>
              <a:t>Mao shifts to rebuilding the Chinese Communist Party (1970)	</a:t>
            </a:r>
          </a:p>
          <a:p>
            <a:pPr lvl="1"/>
            <a:r>
              <a:rPr lang="en-US" sz="1600" dirty="0">
                <a:solidFill>
                  <a:schemeClr val="bg1">
                    <a:alpha val="80000"/>
                  </a:schemeClr>
                </a:solidFill>
              </a:rPr>
              <a:t>Lin accused of “obstructing” the rebuild, “careerism,” and “conspiracy”</a:t>
            </a:r>
          </a:p>
          <a:p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Lin’s Mysterious Death</a:t>
            </a:r>
          </a:p>
          <a:p>
            <a:pPr lvl="1"/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Lin accused of attempting to assassinate Mao and launching a coup (July 28, 1972)</a:t>
            </a:r>
          </a:p>
          <a:p>
            <a:pPr lvl="1"/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Killed along side wife and son when his plane crashed over Mongolia. </a:t>
            </a:r>
          </a:p>
        </p:txBody>
      </p:sp>
    </p:spTree>
    <p:extLst>
      <p:ext uri="{BB962C8B-B14F-4D97-AF65-F5344CB8AC3E}">
        <p14:creationId xmlns:p14="http://schemas.microsoft.com/office/powerpoint/2010/main" val="233863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Enlarged Working Conference of the Central Committee of the Communist Party of China, 1962. Left to right: Zhu De, Zhou Enlai, Chen Yun, Liu Shaoqi,...">
            <a:extLst>
              <a:ext uri="{FF2B5EF4-FFF2-40B4-BE49-F238E27FC236}">
                <a16:creationId xmlns:a16="http://schemas.microsoft.com/office/drawing/2014/main" id="{A3DB1B0F-0A0B-40D1-8EF2-F50072D09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43" r="-2" b="-2"/>
          <a:stretch/>
        </p:blipFill>
        <p:spPr bwMode="auto">
          <a:xfrm>
            <a:off x="3242695" y="10"/>
            <a:ext cx="8949307" cy="6857990"/>
          </a:xfrm>
          <a:custGeom>
            <a:avLst/>
            <a:gdLst/>
            <a:ahLst/>
            <a:cxnLst/>
            <a:rect l="l" t="t" r="r" b="b"/>
            <a:pathLst>
              <a:path w="8949307" h="6858000">
                <a:moveTo>
                  <a:pt x="0" y="0"/>
                </a:moveTo>
                <a:lnTo>
                  <a:pt x="8949307" y="0"/>
                </a:lnTo>
                <a:lnTo>
                  <a:pt x="8949307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9" y="4741056"/>
                  <a:pt x="1212979" y="3429000"/>
                </a:cubicBezTo>
                <a:cubicBezTo>
                  <a:pt x="1212979" y="2116944"/>
                  <a:pt x="773509" y="929100"/>
                  <a:pt x="62983" y="692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52F571-50E4-4DFE-AD5C-433B93B79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5728"/>
          </a:xfrm>
        </p:spPr>
        <p:txBody>
          <a:bodyPr anchor="b">
            <a:normAutofit fontScale="90000"/>
          </a:bodyPr>
          <a:lstStyle/>
          <a:p>
            <a:r>
              <a:rPr lang="en-US" sz="2800" dirty="0"/>
              <a:t>The Cultural Revolution through 1972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B38EA8-BBDC-45C2-9FA9-D6FEEF6C4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Mao’s weapon to “revive” the Chinese Revolution  &amp; Neutralize his rivals.</a:t>
            </a:r>
          </a:p>
          <a:p>
            <a:pPr lvl="1"/>
            <a:r>
              <a:rPr lang="en-US" sz="1300" dirty="0"/>
              <a:t>3,000,000 party and government officials lost their jobs. </a:t>
            </a:r>
          </a:p>
          <a:p>
            <a:pPr lvl="1"/>
            <a:r>
              <a:rPr lang="en-US" sz="1300" dirty="0"/>
              <a:t>500,000 people killed or committed suicide.</a:t>
            </a:r>
          </a:p>
        </p:txBody>
      </p:sp>
    </p:spTree>
    <p:extLst>
      <p:ext uri="{BB962C8B-B14F-4D97-AF65-F5344CB8AC3E}">
        <p14:creationId xmlns:p14="http://schemas.microsoft.com/office/powerpoint/2010/main" val="3669365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oldiers of APL writing critics on blackboards against evil genius to defend Mao Zedong and communist party, june 1966 in Pekin">
            <a:extLst>
              <a:ext uri="{FF2B5EF4-FFF2-40B4-BE49-F238E27FC236}">
                <a16:creationId xmlns:a16="http://schemas.microsoft.com/office/drawing/2014/main" id="{3F1B50D7-0E59-4169-B55B-FFEAFFBDBC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1" r="6940" b="6333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01E265-B497-4D34-B5BF-C09E21AB6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 dirty="0"/>
              <a:t>Question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0BEA7-177E-4C55-BF27-79623D3AF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328" y="4494276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When did the Cultural Revolution begin, who launched it, and Why?</a:t>
            </a:r>
          </a:p>
          <a:p>
            <a:r>
              <a:rPr lang="en-US" sz="1700" dirty="0"/>
              <a:t>Why did so many Chinese citizens go along with the Cultural Revolution?</a:t>
            </a:r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52713C-8B3F-4C0A-AC79-EF5CF9AEA37E}"/>
              </a:ext>
            </a:extLst>
          </p:cNvPr>
          <p:cNvSpPr txBox="1"/>
          <p:nvPr/>
        </p:nvSpPr>
        <p:spPr>
          <a:xfrm>
            <a:off x="266882" y="2530601"/>
            <a:ext cx="61239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What was the Cultural Revolution?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Who was responsible for the Cultural Revolution?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What were the origins of the Cultural Revolution?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What were the long-term consequences of the Cultural Revolution?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F8310C0-A563-4397-9C8F-4443A050ED90}"/>
              </a:ext>
            </a:extLst>
          </p:cNvPr>
          <p:cNvSpPr txBox="1">
            <a:spLocks/>
          </p:cNvSpPr>
          <p:nvPr/>
        </p:nvSpPr>
        <p:spPr>
          <a:xfrm>
            <a:off x="371094" y="4076762"/>
            <a:ext cx="4715598" cy="10735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700" u="sng" dirty="0"/>
              <a:t>Module Questions</a:t>
            </a:r>
          </a:p>
        </p:txBody>
      </p:sp>
    </p:spTree>
    <p:extLst>
      <p:ext uri="{BB962C8B-B14F-4D97-AF65-F5344CB8AC3E}">
        <p14:creationId xmlns:p14="http://schemas.microsoft.com/office/powerpoint/2010/main" val="2068884601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2ECBC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43436C"/>
      </a:dk1>
      <a:lt1>
        <a:sysClr val="window" lastClr="F2ECBC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6CD7C67E29A1448D286B3C1573FB69" ma:contentTypeVersion="4" ma:contentTypeDescription="Create a new document." ma:contentTypeScope="" ma:versionID="7c8c9bf60fa2d88ccf2abfe128a48d46">
  <xsd:schema xmlns:xsd="http://www.w3.org/2001/XMLSchema" xmlns:xs="http://www.w3.org/2001/XMLSchema" xmlns:p="http://schemas.microsoft.com/office/2006/metadata/properties" xmlns:ns3="020f1ba6-a731-467f-97d9-1e90954706ee" targetNamespace="http://schemas.microsoft.com/office/2006/metadata/properties" ma:root="true" ma:fieldsID="0d32c99e47219c2d89528678ccd0a79e" ns3:_="">
    <xsd:import namespace="020f1ba6-a731-467f-97d9-1e90954706e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0f1ba6-a731-467f-97d9-1e90954706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4BC6FB-4644-423C-B3D0-9EB581A94E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0f1ba6-a731-467f-97d9-1e90954706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7CF88DB-FD98-4BE8-B3DD-A5238B6F58CE}">
  <ds:schemaRefs>
    <ds:schemaRef ds:uri="http://purl.org/dc/dcmitype/"/>
    <ds:schemaRef ds:uri="020f1ba6-a731-467f-97d9-1e90954706ee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5A7E721-E209-4AEB-950F-E52AFC249E5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1631</Words>
  <Application>Microsoft Office PowerPoint</Application>
  <PresentationFormat>Widescreen</PresentationFormat>
  <Paragraphs>191</Paragraphs>
  <Slides>27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Neue Haas Grotesk Text Pro</vt:lpstr>
      <vt:lpstr>Open Sans</vt:lpstr>
      <vt:lpstr>Times New Roman</vt:lpstr>
      <vt:lpstr>AccentBoxVTI</vt:lpstr>
      <vt:lpstr>Module 1  </vt:lpstr>
      <vt:lpstr>Major Questions:</vt:lpstr>
      <vt:lpstr>Module 1 Question:</vt:lpstr>
      <vt:lpstr>Module Theme:</vt:lpstr>
      <vt:lpstr>Setting the Stage for the Cultural Revolution</vt:lpstr>
      <vt:lpstr>The First Five Year Plan (1953-1957)</vt:lpstr>
      <vt:lpstr>The First Five-Year Plan Continued</vt:lpstr>
      <vt:lpstr>Nikita Khrushchev's Secret Speech</vt:lpstr>
      <vt:lpstr>Mao’s Criticism &amp; The Great Leap Forward </vt:lpstr>
      <vt:lpstr>The Lushan Plenum (1959)</vt:lpstr>
      <vt:lpstr>The Results of the Great Leap Forward (1960-1962)</vt:lpstr>
      <vt:lpstr>Mao Sidelined </vt:lpstr>
      <vt:lpstr>Competing Views of “New” China.</vt:lpstr>
      <vt:lpstr>Module 2  </vt:lpstr>
      <vt:lpstr>Major Questions:</vt:lpstr>
      <vt:lpstr>Module 1 Question:</vt:lpstr>
      <vt:lpstr>Module Theme:</vt:lpstr>
      <vt:lpstr>After the Great Leap Forward 1961-1965</vt:lpstr>
      <vt:lpstr>Mao Criticized (1962-1965)?</vt:lpstr>
      <vt:lpstr>The Cultural Revolution  (Phase I): The Political Phase</vt:lpstr>
      <vt:lpstr>Cultural Revolution (Phase II): The Red Guard Phase</vt:lpstr>
      <vt:lpstr>The Red Guard</vt:lpstr>
      <vt:lpstr>Eliminating Mao’s Rivals (1968-1969)</vt:lpstr>
      <vt:lpstr>Fate of the Red Guard &amp; Ultra-Leftist</vt:lpstr>
      <vt:lpstr>The Fall of Lin Biao</vt:lpstr>
      <vt:lpstr>The Cultural Revolution through 1972</vt:lpstr>
      <vt:lpstr>Question Review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Barnes, Melvin</dc:creator>
  <cp:lastModifiedBy>Richard Horton</cp:lastModifiedBy>
  <cp:revision>4</cp:revision>
  <dcterms:created xsi:type="dcterms:W3CDTF">2021-01-31T18:07:49Z</dcterms:created>
  <dcterms:modified xsi:type="dcterms:W3CDTF">2025-08-05T00:38:10Z</dcterms:modified>
</cp:coreProperties>
</file>