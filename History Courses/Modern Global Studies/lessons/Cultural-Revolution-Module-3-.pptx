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60" r:id="rId5"/>
    <p:sldId id="268" r:id="rId6"/>
    <p:sldId id="259" r:id="rId7"/>
    <p:sldId id="261" r:id="rId8"/>
    <p:sldId id="262" r:id="rId9"/>
    <p:sldId id="264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B8A6-8FF4-427D-B11C-0DDE8D45E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F2ED9-1C8E-46BE-B578-816D05979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5E21A-6531-4666-BD34-9B96B8E4E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F62C-C1E5-434F-B418-5AFA74D1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93BAE-9D0F-46FA-994E-5A68F784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5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415BD-B06F-486D-817A-0C775925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D0BF-94B4-41D9-A727-265FB770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1597B-812E-4A77-A518-D6A2A711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0A546-988C-48A6-A952-A9A36FA8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E076-D350-45C3-8D92-AA556241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5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0EC6-4D99-452F-97BD-192D339ED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3B1F-2E9F-4F38-BF1A-EFE4074E9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29A1F-2BC2-4912-B324-269C3B18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E09C7-A8D6-4933-90BC-99803D2D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02886-96E2-4508-A220-047776E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0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87BE-3DD6-4C6B-9FCD-40B66FBC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96FF-90E9-4783-B001-8AEA0B272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2BC4-16EA-4138-8529-87302EB29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F7C43-01B0-4375-845C-EF6B1ED4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77E7C-B165-487E-BD5E-87D538BF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D66D0-2D7F-4516-BC30-C16DB879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8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9477-5573-4A59-91F9-B02920FF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61387-97CE-42D6-BB04-2B42EDB23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945A8-7040-4347-A172-25CD57609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F7B1D-526B-4E52-B28C-00CA06966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A792B-4619-4B8F-8E52-9BF2BD6294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9A5B4-4FC5-4B5F-83D6-B135C2F6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349D6-7A6C-4CFB-BAAA-13635C1E2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7A08F-FD8B-4918-9F42-3AA57BFD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2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7A0E-3DF4-4955-A62B-4BD423F9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813FA-6FEA-4DE6-A640-C3DB8EC9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44895-4A08-4CE1-B19B-88F13FE4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5E328-DFB0-4A92-9FE0-7A654C31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C4570D-CDC5-4EB6-A323-FD0892B4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BAC16-64FF-4BB3-8A53-DBB0DFFA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CD210-8529-4D01-BF3E-841B653C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5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A32E-5E20-44FE-8541-368A86D0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52F99-9F49-4EE6-8798-AC57B3FE6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0489C-D159-4132-90A4-B5FBD0905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36CE7-749E-41A6-84D2-B5E79DE3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589B0-50BA-44A7-9C2B-B3472929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3FEC1-E87D-4017-94B6-20D15F0B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0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D5D7-65F1-4F66-80C8-5D59F73E7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00C8E-45BF-4619-A446-4BBB7EB0F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0B63B-894E-4634-91B9-28C230B90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C674D-C89F-434B-9BEA-61E69F4C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64B37-C3E2-45F1-8B76-16DA58CB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B2B13-F1B3-4A29-AAF7-71CD226B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5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7C57-DCF9-4980-A107-A00A9B90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898EF-50DE-4360-B886-5C062F7E8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2DD1E-4AFE-401B-9F1E-857D20AA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A485B-8AD5-430F-B914-574E3A39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77869-5220-44CE-ACFF-2F750320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2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12646-7ECB-4F76-8334-B6AF1C49A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BDFCA-48EE-41CD-94C1-D689FC11D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F8AC7-0F25-4750-8EA5-A3C9D010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6769C-FB4B-434B-887B-59A5FA297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3EB9C-EC26-4DF5-83A0-845AAF93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18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473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25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95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11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25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60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75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192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911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3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4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88A0C-9364-4751-985D-5BA4BD35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64C74-1948-46FC-8D26-335A8D08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1E90F-5BB6-4139-9DB1-4C61CE1B8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ED426-4752-4FEA-B1C7-3061305C26D8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601DC-4DFC-4298-BC95-8DA984A60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0879-C9A0-4B8B-B23E-2C28230BC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A9C90-8E38-4734-AE49-BAC49B9F9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9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81">
            <a:extLst>
              <a:ext uri="{FF2B5EF4-FFF2-40B4-BE49-F238E27FC236}">
                <a16:creationId xmlns:a16="http://schemas.microsoft.com/office/drawing/2014/main" id="{58153EC8-8E01-4D70-B575-24ABD3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3881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831D0-8B60-448F-AF68-58D8D117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750" y="657498"/>
            <a:ext cx="4806184" cy="3644537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400" b="1" dirty="0">
                <a:solidFill>
                  <a:srgbClr val="FF0000"/>
                </a:solidFill>
              </a:rPr>
              <a:t>Module 3</a:t>
            </a:r>
            <a:r>
              <a:rPr lang="en-US" sz="5400" b="1" dirty="0">
                <a:solidFill>
                  <a:schemeClr val="bg1"/>
                </a:solidFill>
              </a:rPr>
              <a:t>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FD23F-01E8-4A84-A818-DCE344C4C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750" y="4545874"/>
            <a:ext cx="4806184" cy="1672046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</a:rPr>
              <a:t>The End of the Cultural Revolution 1972-1989</a:t>
            </a:r>
          </a:p>
        </p:txBody>
      </p:sp>
      <p:pic>
        <p:nvPicPr>
          <p:cNvPr id="5" name="Picture 4" descr="Chinese Cultural Revolution Poster">
            <a:extLst>
              <a:ext uri="{FF2B5EF4-FFF2-40B4-BE49-F238E27FC236}">
                <a16:creationId xmlns:a16="http://schemas.microsoft.com/office/drawing/2014/main" id="{2B6E783A-F5C6-412A-9501-0FF69B3CC6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3" r="-2" b="16554"/>
          <a:stretch/>
        </p:blipFill>
        <p:spPr bwMode="auto">
          <a:xfrm>
            <a:off x="6095999" y="10"/>
            <a:ext cx="610565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8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2050" name="Picture 2" descr="Mass demonstration on China's National Day, October 1, outside the Gate of Heavenly Peace, Tiananmen, during the Cultural Revolution of the late...">
            <a:extLst>
              <a:ext uri="{FF2B5EF4-FFF2-40B4-BE49-F238E27FC236}">
                <a16:creationId xmlns:a16="http://schemas.microsoft.com/office/drawing/2014/main" id="{09DC0E4C-8BD3-4809-8327-52F78644F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4" r="393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8CE83-8DBA-4A47-A8B4-B54D84B4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Major Questions:</a:t>
            </a:r>
          </a:p>
        </p:txBody>
      </p:sp>
      <p:sp>
        <p:nvSpPr>
          <p:cNvPr id="2055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6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1886774-9456-4801-AF12-AE465279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What was the Cultural Revolution?</a:t>
            </a:r>
          </a:p>
          <a:p>
            <a:r>
              <a:rPr lang="en-US" sz="1700" dirty="0"/>
              <a:t>Who was responsible for the Cultural Revolution?</a:t>
            </a:r>
          </a:p>
          <a:p>
            <a:r>
              <a:rPr lang="en-US" sz="1700" dirty="0"/>
              <a:t>What were the origins of the Cultural Revolution?</a:t>
            </a:r>
          </a:p>
          <a:p>
            <a:r>
              <a:rPr lang="en-US" sz="1700" dirty="0"/>
              <a:t>What were the long-term consequences of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153091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3074" name="Picture 2" descr="Mao Zedong portrait in a poster of 1934 when he was President of the Chinese Soviet Republic founded in Jiangxi province in 1931 and that had...">
            <a:extLst>
              <a:ext uri="{FF2B5EF4-FFF2-40B4-BE49-F238E27FC236}">
                <a16:creationId xmlns:a16="http://schemas.microsoft.com/office/drawing/2014/main" id="{9196B358-246D-4D3E-9DC3-F71EE3FEF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8" r="-1" b="29747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136A8-455B-46B4-8D05-1E462626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Module 3 Question: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B6FE7074-D112-4F55-A6FD-15E11174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How did the Cultural Revolution end and why did it end when it did?</a:t>
            </a:r>
          </a:p>
          <a:p>
            <a:r>
              <a:rPr lang="en-US" sz="1700" dirty="0"/>
              <a:t>Who was “officially” responsible for the cultural revolution and why?</a:t>
            </a:r>
          </a:p>
          <a:p>
            <a:r>
              <a:rPr lang="en-US" sz="1700" dirty="0"/>
              <a:t>Whose vision of China won out, Mao’s or his opponents? </a:t>
            </a:r>
          </a:p>
        </p:txBody>
      </p:sp>
    </p:spTree>
    <p:extLst>
      <p:ext uri="{BB962C8B-B14F-4D97-AF65-F5344CB8AC3E}">
        <p14:creationId xmlns:p14="http://schemas.microsoft.com/office/powerpoint/2010/main" val="439502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6" descr="Several thousands of youths holding flags and banners as they stage a demonstration 24 July 1977 in downtown Beijing in support of China's...">
            <a:extLst>
              <a:ext uri="{FF2B5EF4-FFF2-40B4-BE49-F238E27FC236}">
                <a16:creationId xmlns:a16="http://schemas.microsoft.com/office/drawing/2014/main" id="{2CBA5F50-DC97-4E20-A219-0CA6345CCE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8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3ED82-1913-476F-80EB-074EC949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Module Theme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E0B1D-2E26-497B-B475-4CC90405C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/>
              <a:t>The Legacy of the Cultural Revolution </a:t>
            </a:r>
          </a:p>
        </p:txBody>
      </p:sp>
    </p:spTree>
    <p:extLst>
      <p:ext uri="{BB962C8B-B14F-4D97-AF65-F5344CB8AC3E}">
        <p14:creationId xmlns:p14="http://schemas.microsoft.com/office/powerpoint/2010/main" val="1672431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144">
            <a:extLst>
              <a:ext uri="{FF2B5EF4-FFF2-40B4-BE49-F238E27FC236}">
                <a16:creationId xmlns:a16="http://schemas.microsoft.com/office/drawing/2014/main" id="{633D240C-2220-494F-90F6-2A8A57C05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2CFDA-1A6F-4085-9242-714AA1C7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952" y="1078992"/>
            <a:ext cx="6272784" cy="153619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200" dirty="0">
                <a:solidFill>
                  <a:schemeClr val="bg1"/>
                </a:solidFill>
              </a:rPr>
              <a:t>Signs of a “cooling” Revolution</a:t>
            </a:r>
          </a:p>
        </p:txBody>
      </p:sp>
      <p:pic>
        <p:nvPicPr>
          <p:cNvPr id="6" name="Picture 10" descr="Mao Tse-tung , Chinese Communist leader who was chairman of the Communist party of China and the principal founder of the People's Republic of China,...">
            <a:extLst>
              <a:ext uri="{FF2B5EF4-FFF2-40B4-BE49-F238E27FC236}">
                <a16:creationId xmlns:a16="http://schemas.microsoft.com/office/drawing/2014/main" id="{877C2C1C-594B-4B3A-BE03-FD5B083F8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8" r="2" b="6812"/>
          <a:stretch/>
        </p:blipFill>
        <p:spPr bwMode="auto">
          <a:xfrm>
            <a:off x="-4" y="21"/>
            <a:ext cx="4711516" cy="293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Rectangle 146">
            <a:extLst>
              <a:ext uri="{FF2B5EF4-FFF2-40B4-BE49-F238E27FC236}">
                <a16:creationId xmlns:a16="http://schemas.microsoft.com/office/drawing/2014/main" id="{82F8B5D5-EDD3-466C-9CFA-C8A8B1C7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70840" y="361188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8" name="Rectangle 148">
            <a:extLst>
              <a:ext uri="{FF2B5EF4-FFF2-40B4-BE49-F238E27FC236}">
                <a16:creationId xmlns:a16="http://schemas.microsoft.com/office/drawing/2014/main" id="{9FC6858B-B383-4FB7-AAFA-9CBB9215D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095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4" name="Picture 12" descr="Chinese communist leader Chairman Mao Zedong welcomes US President Richard Nixon, at his house in Beijing. President Nixon urged China to join the...">
            <a:extLst>
              <a:ext uri="{FF2B5EF4-FFF2-40B4-BE49-F238E27FC236}">
                <a16:creationId xmlns:a16="http://schemas.microsoft.com/office/drawing/2014/main" id="{A4860FF1-E8D7-429F-9C96-5EB8379DD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432"/>
          <a:stretch/>
        </p:blipFill>
        <p:spPr bwMode="auto">
          <a:xfrm>
            <a:off x="24" y="3172569"/>
            <a:ext cx="4711515" cy="368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81755-9E9C-42A2-A74E-A3BE3F10E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3040381"/>
            <a:ext cx="6272784" cy="3609071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Sino-US rapprochement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Nixon’s visit to China (February 1972)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Alongside the Soviet Union the U.S. was China’s greatest military and ideological enemy.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Mao Permits Deng Xiaoping to return	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Returned to politics after working in a Jiangxi tire plant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Perhaps to spite his wife Jiang Qing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Mao’s Health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Increasingly feeble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80 in 1973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Diagnosed with congestive heart failure 1973 &amp; Lou </a:t>
            </a:r>
            <a:r>
              <a:rPr lang="en-US" sz="1400" dirty="0" err="1">
                <a:solidFill>
                  <a:schemeClr val="bg1"/>
                </a:solidFill>
              </a:rPr>
              <a:t>Gherigs</a:t>
            </a:r>
            <a:r>
              <a:rPr lang="en-US" sz="1400" dirty="0">
                <a:solidFill>
                  <a:schemeClr val="bg1"/>
                </a:solidFill>
              </a:rPr>
              <a:t> disease in 1974</a:t>
            </a:r>
          </a:p>
        </p:txBody>
      </p:sp>
    </p:spTree>
    <p:extLst>
      <p:ext uri="{BB962C8B-B14F-4D97-AF65-F5344CB8AC3E}">
        <p14:creationId xmlns:p14="http://schemas.microsoft.com/office/powerpoint/2010/main" val="362923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0" name="Rectangle 7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Queue in Beijing, China, during the Cultural Revolution, 1973.">
            <a:extLst>
              <a:ext uri="{FF2B5EF4-FFF2-40B4-BE49-F238E27FC236}">
                <a16:creationId xmlns:a16="http://schemas.microsoft.com/office/drawing/2014/main" id="{84B6B1B1-89EF-4A73-8380-58113B0DE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6" r="-1" b="-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1" name="Rectangle 7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6D152-81E4-49DB-8BB5-81C7070D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The Quieter Years</a:t>
            </a:r>
            <a:br>
              <a:rPr lang="en-US" sz="2800" dirty="0"/>
            </a:br>
            <a:r>
              <a:rPr lang="en-US" sz="2800" dirty="0"/>
              <a:t>(1973-1976)</a:t>
            </a:r>
          </a:p>
        </p:txBody>
      </p:sp>
      <p:sp>
        <p:nvSpPr>
          <p:cNvPr id="4102" name="Rectangle 7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3" name="Rectangle 7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958F-0682-43EC-B00E-26C8F2EF5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92604"/>
            <a:ext cx="5724906" cy="3207258"/>
          </a:xfrm>
        </p:spPr>
        <p:txBody>
          <a:bodyPr anchor="t">
            <a:normAutofit fontScale="92500"/>
          </a:bodyPr>
          <a:lstStyle/>
          <a:p>
            <a:r>
              <a:rPr lang="en-US" sz="2800" dirty="0"/>
              <a:t>Rebuilding the Party</a:t>
            </a:r>
          </a:p>
          <a:p>
            <a:pPr lvl="1"/>
            <a:r>
              <a:rPr lang="en-US" dirty="0"/>
              <a:t>By 1973 “pre-Cultural Revolution cadres were running the government ministries.”</a:t>
            </a:r>
          </a:p>
          <a:p>
            <a:r>
              <a:rPr lang="en-US" sz="2800" dirty="0"/>
              <a:t>Red Guard sent to the countryside</a:t>
            </a:r>
          </a:p>
          <a:p>
            <a:pPr lvl="1"/>
            <a:r>
              <a:rPr lang="en-US" dirty="0"/>
              <a:t>Often resented by farmers </a:t>
            </a:r>
          </a:p>
          <a:p>
            <a:pPr lvl="2"/>
            <a:r>
              <a:rPr lang="en-US" dirty="0"/>
              <a:t>Few useful skills &amp; a sense of superiority</a:t>
            </a:r>
          </a:p>
          <a:p>
            <a:pPr lvl="1"/>
            <a:r>
              <a:rPr lang="en-US" dirty="0"/>
              <a:t>Lost education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050395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6976B-40C8-4ED0-937A-48DC2DF5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 fontScale="90000"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1976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30" name="Content Placeholder 5125">
            <a:extLst>
              <a:ext uri="{FF2B5EF4-FFF2-40B4-BE49-F238E27FC236}">
                <a16:creationId xmlns:a16="http://schemas.microsoft.com/office/drawing/2014/main" id="{82BE2432-5E9E-4749-AAC8-63826808E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514601"/>
            <a:ext cx="4657826" cy="4094746"/>
          </a:xfrm>
        </p:spPr>
        <p:txBody>
          <a:bodyPr anchor="t">
            <a:normAutofit lnSpcReduction="1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Mao’s Death &amp; the End of the Cultural Revolution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Death of Zhou Enlai (January 8, 1976)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Tangshan Earthquake (July 28, 1976)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At 3:42 AM 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Magnitude 7.8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240,000 Deaths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Death of Mao (September 9, 1976)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The End of the Cultural Revolution 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When Mao died he said the Cultural Revolution had few supporters and “</a:t>
            </a:r>
            <a:r>
              <a:rPr lang="en-US" sz="1200" dirty="0">
                <a:solidFill>
                  <a:srgbClr val="FF0000"/>
                </a:solidFill>
              </a:rPr>
              <a:t>quite a few opponents</a:t>
            </a:r>
            <a:r>
              <a:rPr lang="en-US" sz="1200" dirty="0">
                <a:solidFill>
                  <a:schemeClr val="bg1"/>
                </a:solidFill>
              </a:rPr>
              <a:t>.” With the revolution unfinished in Mao’s mind he asks “</a:t>
            </a:r>
            <a:r>
              <a:rPr lang="en-US" sz="1200" dirty="0">
                <a:solidFill>
                  <a:srgbClr val="FF0000"/>
                </a:solidFill>
              </a:rPr>
              <a:t>What will happen to the next generation if it all fails?</a:t>
            </a:r>
            <a:r>
              <a:rPr lang="en-US" sz="1200" dirty="0">
                <a:solidFill>
                  <a:schemeClr val="bg1"/>
                </a:solidFill>
              </a:rPr>
              <a:t>” “</a:t>
            </a:r>
            <a:r>
              <a:rPr lang="en-US" sz="1200" dirty="0">
                <a:solidFill>
                  <a:srgbClr val="FF0000"/>
                </a:solidFill>
              </a:rPr>
              <a:t>There will be a foul wind and a rain of blood. How will you cope? Heaven only knows!</a:t>
            </a:r>
            <a:r>
              <a:rPr lang="en-US" sz="1200" dirty="0">
                <a:solidFill>
                  <a:schemeClr val="bg1"/>
                </a:solidFill>
              </a:rPr>
              <a:t>”</a:t>
            </a:r>
          </a:p>
        </p:txBody>
      </p:sp>
      <p:pic>
        <p:nvPicPr>
          <p:cNvPr id="5122" name="Picture 2" descr="COMMANDERS AND FIGHTERS OF THE CHINESE PEOPLE'S LIBERATION ARMY, WITH BOUNDLESS PROFOUND PROLETARIAN FEELINGS, PAYING RESPECTS TO THE REMAINS OF THE...">
            <a:extLst>
              <a:ext uri="{FF2B5EF4-FFF2-40B4-BE49-F238E27FC236}">
                <a16:creationId xmlns:a16="http://schemas.microsoft.com/office/drawing/2014/main" id="{C9637820-1360-476A-BAA2-10A46E8349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1" r="7349" b="-2"/>
          <a:stretch/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12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AAE8-5CE4-494D-ADC7-53BD4364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Mao’s Successor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4637-C6FA-4BC4-8CD5-18B200DC1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Hua Guofeng (1976-1978)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Mao’s deathbed statement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“With you in charge, I am at ease,”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Presented as the political and ideological continuation of Mao with some deviations.</a:t>
            </a:r>
          </a:p>
          <a:p>
            <a:pPr lvl="3"/>
            <a:r>
              <a:rPr lang="en-US" sz="1200" dirty="0">
                <a:solidFill>
                  <a:schemeClr val="bg1"/>
                </a:solidFill>
              </a:rPr>
              <a:t>Promoted globalization</a:t>
            </a:r>
          </a:p>
          <a:p>
            <a:pPr lvl="4"/>
            <a:r>
              <a:rPr lang="en-US" sz="1200" dirty="0">
                <a:solidFill>
                  <a:schemeClr val="bg1"/>
                </a:solidFill>
              </a:rPr>
              <a:t>Western movies and literature now acceptable in China. 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Began the process of rehabilitating China’s economy</a:t>
            </a:r>
          </a:p>
          <a:p>
            <a:pPr lvl="3"/>
            <a:r>
              <a:rPr lang="en-US" sz="1200" dirty="0">
                <a:solidFill>
                  <a:schemeClr val="bg1"/>
                </a:solidFill>
              </a:rPr>
              <a:t>Began 120 mammoth industrial projects</a:t>
            </a:r>
          </a:p>
        </p:txBody>
      </p:sp>
      <p:pic>
        <p:nvPicPr>
          <p:cNvPr id="7170" name="Picture 2" descr="Hua Kuo-Feng, the Chinese President attends a reunion in Peking.">
            <a:extLst>
              <a:ext uri="{FF2B5EF4-FFF2-40B4-BE49-F238E27FC236}">
                <a16:creationId xmlns:a16="http://schemas.microsoft.com/office/drawing/2014/main" id="{FD6381BE-0D38-46A7-8713-9E9204782E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8311"/>
          <a:stretch/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93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57F7809F-7E6F-43AA-B5BD-969F9DECB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4" descr="Vintage Foto de retrato de Yao wenyuan.: Amazon.es: Hogar">
            <a:extLst>
              <a:ext uri="{FF2B5EF4-FFF2-40B4-BE49-F238E27FC236}">
                <a16:creationId xmlns:a16="http://schemas.microsoft.com/office/drawing/2014/main" id="{EE47A8F8-C063-402F-B8A4-AA0C095EC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7693"/>
          <a:stretch/>
        </p:blipFill>
        <p:spPr bwMode="auto">
          <a:xfrm>
            <a:off x="20" y="10"/>
            <a:ext cx="3153821" cy="320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>
            <a:extLst>
              <a:ext uri="{FF2B5EF4-FFF2-40B4-BE49-F238E27FC236}">
                <a16:creationId xmlns:a16="http://schemas.microsoft.com/office/drawing/2014/main" id="{DF66B2C7-2819-4A1F-B9B9-B93BD8A09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1527"/>
          <a:stretch/>
        </p:blipFill>
        <p:spPr bwMode="auto">
          <a:xfrm>
            <a:off x="20" y="3310148"/>
            <a:ext cx="3153821" cy="354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B47DBB3A-2673-49FD-BF65-AF78DA2925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0" r="-2" b="21973"/>
          <a:stretch/>
        </p:blipFill>
        <p:spPr bwMode="auto">
          <a:xfrm>
            <a:off x="3254444" y="10"/>
            <a:ext cx="3781391" cy="413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7863FFBF-C04A-4E6D-929D-65C201054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10" r="2" b="47212"/>
          <a:stretch/>
        </p:blipFill>
        <p:spPr bwMode="auto">
          <a:xfrm>
            <a:off x="3254444" y="4233672"/>
            <a:ext cx="3781391" cy="26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8785" y="633619"/>
            <a:ext cx="4520912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D0E95-EE0A-48F3-A837-E7697D95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8246" y="728456"/>
            <a:ext cx="3721608" cy="11064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Making Sense of the Cultural Revolution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4776" y="118153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667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2" name="Content Placeholder 6151">
            <a:extLst>
              <a:ext uri="{FF2B5EF4-FFF2-40B4-BE49-F238E27FC236}">
                <a16:creationId xmlns:a16="http://schemas.microsoft.com/office/drawing/2014/main" id="{0D5CA279-4B16-40E9-A1E0-A08AEDE75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9703" y="2194560"/>
            <a:ext cx="3890151" cy="3934984"/>
          </a:xfrm>
        </p:spPr>
        <p:txBody>
          <a:bodyPr>
            <a:norm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Four Patron’s of Mao &amp; Key Figures in the Cultural Revolution </a:t>
            </a:r>
            <a:endParaRPr lang="en-US" sz="1700" dirty="0">
              <a:solidFill>
                <a:schemeClr val="bg1"/>
              </a:solidFill>
            </a:endParaRP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Yao </a:t>
            </a:r>
            <a:r>
              <a:rPr lang="en-US" sz="1700" dirty="0" err="1">
                <a:solidFill>
                  <a:schemeClr val="bg1"/>
                </a:solidFill>
              </a:rPr>
              <a:t>Wenyuan</a:t>
            </a:r>
            <a:endParaRPr lang="en-US" sz="1700" dirty="0">
              <a:solidFill>
                <a:schemeClr val="bg1"/>
              </a:solidFill>
            </a:endParaRPr>
          </a:p>
          <a:p>
            <a:pPr lvl="2"/>
            <a:r>
              <a:rPr lang="en-US" sz="1500" dirty="0">
                <a:solidFill>
                  <a:schemeClr val="bg1"/>
                </a:solidFill>
              </a:rPr>
              <a:t>The Author of the Attack on Wu Han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Jiang Qing </a:t>
            </a:r>
          </a:p>
          <a:p>
            <a:pPr lvl="2"/>
            <a:r>
              <a:rPr lang="en-US" sz="1500" dirty="0">
                <a:solidFill>
                  <a:schemeClr val="bg1"/>
                </a:solidFill>
              </a:rPr>
              <a:t>Mao’s wife</a:t>
            </a: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Wang </a:t>
            </a:r>
            <a:r>
              <a:rPr lang="en-US" sz="1700" dirty="0" err="1">
                <a:solidFill>
                  <a:schemeClr val="bg1"/>
                </a:solidFill>
              </a:rPr>
              <a:t>Hongwen</a:t>
            </a:r>
            <a:endParaRPr lang="en-US" sz="1700" dirty="0">
              <a:solidFill>
                <a:schemeClr val="bg1"/>
              </a:solidFill>
            </a:endParaRPr>
          </a:p>
          <a:p>
            <a:pPr lvl="1"/>
            <a:r>
              <a:rPr lang="en-US" sz="1700" dirty="0">
                <a:solidFill>
                  <a:schemeClr val="bg1"/>
                </a:solidFill>
              </a:rPr>
              <a:t>Zhang </a:t>
            </a:r>
            <a:r>
              <a:rPr lang="en-US" sz="1700" dirty="0" err="1">
                <a:solidFill>
                  <a:schemeClr val="bg1"/>
                </a:solidFill>
              </a:rPr>
              <a:t>Chunqiao</a:t>
            </a:r>
            <a:endParaRPr lang="en-US" sz="2100" dirty="0">
              <a:solidFill>
                <a:schemeClr val="bg1"/>
              </a:solidFill>
            </a:endParaRPr>
          </a:p>
          <a:p>
            <a:pPr lvl="1"/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41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57F7809F-7E6F-43AA-B5BD-969F9DECB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7" name="Picture 14" descr="Vintage Foto de retrato de Yao wenyuan.: Amazon.es: Hogar">
            <a:extLst>
              <a:ext uri="{FF2B5EF4-FFF2-40B4-BE49-F238E27FC236}">
                <a16:creationId xmlns:a16="http://schemas.microsoft.com/office/drawing/2014/main" id="{EE47A8F8-C063-402F-B8A4-AA0C095EC4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7693"/>
          <a:stretch/>
        </p:blipFill>
        <p:spPr bwMode="auto">
          <a:xfrm>
            <a:off x="20" y="10"/>
            <a:ext cx="3153821" cy="320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>
            <a:extLst>
              <a:ext uri="{FF2B5EF4-FFF2-40B4-BE49-F238E27FC236}">
                <a16:creationId xmlns:a16="http://schemas.microsoft.com/office/drawing/2014/main" id="{DF66B2C7-2819-4A1F-B9B9-B93BD8A09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1527"/>
          <a:stretch/>
        </p:blipFill>
        <p:spPr bwMode="auto">
          <a:xfrm>
            <a:off x="20" y="3310148"/>
            <a:ext cx="3153821" cy="354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B47DBB3A-2673-49FD-BF65-AF78DA2925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0" r="-2" b="21973"/>
          <a:stretch/>
        </p:blipFill>
        <p:spPr bwMode="auto">
          <a:xfrm>
            <a:off x="3254444" y="10"/>
            <a:ext cx="3781391" cy="413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7863FFBF-C04A-4E6D-929D-65C201054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10" r="2" b="47212"/>
          <a:stretch/>
        </p:blipFill>
        <p:spPr bwMode="auto">
          <a:xfrm>
            <a:off x="3254444" y="4233672"/>
            <a:ext cx="3781391" cy="26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8785" y="633619"/>
            <a:ext cx="4520912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D0E95-EE0A-48F3-A837-E7697D95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8246" y="728456"/>
            <a:ext cx="3721608" cy="1106424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Making Sense of the Cultural Revolution (Continued)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4776" y="118153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667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2" name="Content Placeholder 6151">
            <a:extLst>
              <a:ext uri="{FF2B5EF4-FFF2-40B4-BE49-F238E27FC236}">
                <a16:creationId xmlns:a16="http://schemas.microsoft.com/office/drawing/2014/main" id="{0D5CA279-4B16-40E9-A1E0-A08AEDE75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9703" y="2194560"/>
            <a:ext cx="3890151" cy="3934984"/>
          </a:xfrm>
        </p:spPr>
        <p:txBody>
          <a:bodyPr>
            <a:normAutofit fontScale="77500" lnSpcReduction="20000"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Blamed for the Cultural Revolution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2100" dirty="0">
                <a:solidFill>
                  <a:schemeClr val="bg1"/>
                </a:solidFill>
              </a:rPr>
              <a:t>“ Appearing to be leftist but actually rightist”</a:t>
            </a:r>
          </a:p>
          <a:p>
            <a:r>
              <a:rPr lang="en-US" sz="2100" dirty="0">
                <a:solidFill>
                  <a:schemeClr val="bg1"/>
                </a:solidFill>
              </a:rPr>
              <a:t>At trial years later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Accused of stealing state power and politically attacking 750,000 people resulting in nearly 35,000 deaths.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Jiang Qing &amp; Zhang </a:t>
            </a:r>
            <a:r>
              <a:rPr lang="en-US" dirty="0" err="1">
                <a:solidFill>
                  <a:schemeClr val="bg1"/>
                </a:solidFill>
              </a:rPr>
              <a:t>Chunqiao</a:t>
            </a:r>
            <a:r>
              <a:rPr lang="en-US" dirty="0">
                <a:solidFill>
                  <a:schemeClr val="bg1"/>
                </a:solidFill>
              </a:rPr>
              <a:t> sentenced to death (later given life imprisonment).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Wang </a:t>
            </a:r>
            <a:r>
              <a:rPr lang="en-US" dirty="0" err="1">
                <a:solidFill>
                  <a:schemeClr val="bg1"/>
                </a:solidFill>
              </a:rPr>
              <a:t>Hongwen</a:t>
            </a:r>
            <a:r>
              <a:rPr lang="en-US" dirty="0">
                <a:solidFill>
                  <a:schemeClr val="bg1"/>
                </a:solidFill>
              </a:rPr>
              <a:t> &amp; Yao </a:t>
            </a:r>
            <a:r>
              <a:rPr lang="en-US" dirty="0" err="1">
                <a:solidFill>
                  <a:schemeClr val="bg1"/>
                </a:solidFill>
              </a:rPr>
              <a:t>Wenyuan</a:t>
            </a:r>
            <a:r>
              <a:rPr lang="en-US" dirty="0">
                <a:solidFill>
                  <a:schemeClr val="bg1"/>
                </a:solidFill>
              </a:rPr>
              <a:t> sentenced to life.</a:t>
            </a:r>
          </a:p>
          <a:p>
            <a:endParaRPr lang="en-US" sz="2100" dirty="0">
              <a:solidFill>
                <a:schemeClr val="bg1"/>
              </a:solidFill>
            </a:endParaRPr>
          </a:p>
          <a:p>
            <a:pPr lvl="1"/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8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6" name="Rectangle 7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Peoples Republic of China leader Deng Xiaoping, 1979.">
            <a:extLst>
              <a:ext uri="{FF2B5EF4-FFF2-40B4-BE49-F238E27FC236}">
                <a16:creationId xmlns:a16="http://schemas.microsoft.com/office/drawing/2014/main" id="{A9CF2978-2747-4A48-BC45-D2EF0E46A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51" r="1" b="8152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7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256A3-9492-48E3-9DF1-5593E26D6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Breaking with the Past	</a:t>
            </a:r>
          </a:p>
        </p:txBody>
      </p:sp>
      <p:sp>
        <p:nvSpPr>
          <p:cNvPr id="8198" name="Rectangle 7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99" name="Rectangle 7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7672-F172-42E7-B27A-BC8BFE7B7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461768"/>
            <a:ext cx="3862239" cy="4377934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1700" dirty="0"/>
              <a:t>Deng Xiaoping seizes power in 1978</a:t>
            </a:r>
          </a:p>
          <a:p>
            <a:pPr lvl="1"/>
            <a:r>
              <a:rPr lang="en-US" sz="1400" dirty="0"/>
              <a:t>Popular due to his positions and as an opponent of the Cultural Revolution </a:t>
            </a:r>
          </a:p>
          <a:p>
            <a:pPr lvl="1"/>
            <a:r>
              <a:rPr lang="en-US" sz="1400" dirty="0"/>
              <a:t>Policies a repudiation of radical Maoist policies</a:t>
            </a:r>
          </a:p>
          <a:p>
            <a:pPr lvl="1"/>
            <a:r>
              <a:rPr lang="en-US" sz="1400" dirty="0"/>
              <a:t>Capitalism and China’s Four Modernizations </a:t>
            </a:r>
          </a:p>
          <a:p>
            <a:pPr lvl="2"/>
            <a:r>
              <a:rPr lang="en-US" sz="1300" dirty="0"/>
              <a:t>“Doesn’t matter if it is a black cat or a white cat as long as it catches mice”</a:t>
            </a:r>
          </a:p>
          <a:p>
            <a:pPr lvl="2"/>
            <a:r>
              <a:rPr lang="en-US" sz="1200" dirty="0"/>
              <a:t>Agriculture. Industry, Technology, Defense</a:t>
            </a:r>
          </a:p>
          <a:p>
            <a:pPr lvl="2"/>
            <a:r>
              <a:rPr lang="en-US" sz="1200" dirty="0"/>
              <a:t>Special Economic Zones</a:t>
            </a:r>
          </a:p>
          <a:p>
            <a:pPr lvl="3"/>
            <a:r>
              <a:rPr lang="en-US" sz="1000" dirty="0"/>
              <a:t>Shenzhen</a:t>
            </a:r>
          </a:p>
          <a:p>
            <a:pPr lvl="2"/>
            <a:r>
              <a:rPr lang="en-US" sz="1200" dirty="0"/>
              <a:t>China’s Economic Miracle </a:t>
            </a:r>
          </a:p>
          <a:p>
            <a:pPr lvl="3"/>
            <a:r>
              <a:rPr lang="en-US" sz="1000" dirty="0"/>
              <a:t>From Poverty to Riches with explosive economic growth since 1980s</a:t>
            </a:r>
          </a:p>
          <a:p>
            <a:pPr lvl="2"/>
            <a:r>
              <a:rPr lang="en-US" sz="1200" dirty="0"/>
              <a:t>5</a:t>
            </a:r>
            <a:r>
              <a:rPr lang="en-US" sz="1200" baseline="30000" dirty="0"/>
              <a:t>th</a:t>
            </a:r>
            <a:r>
              <a:rPr lang="en-US" sz="1200" dirty="0"/>
              <a:t> Modernization? </a:t>
            </a:r>
          </a:p>
          <a:p>
            <a:pPr lvl="3"/>
            <a:r>
              <a:rPr lang="en-US" sz="1000" dirty="0"/>
              <a:t>Democracy</a:t>
            </a:r>
          </a:p>
        </p:txBody>
      </p:sp>
    </p:spTree>
    <p:extLst>
      <p:ext uri="{BB962C8B-B14F-4D97-AF65-F5344CB8AC3E}">
        <p14:creationId xmlns:p14="http://schemas.microsoft.com/office/powerpoint/2010/main" val="1941001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1" name="Rectangle 150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8" descr="General view of the Shanghai skyline at night prior to the 2015 Laureus World Sports Awards on April 12, 2015 in Shanghai, China.">
            <a:extLst>
              <a:ext uri="{FF2B5EF4-FFF2-40B4-BE49-F238E27FC236}">
                <a16:creationId xmlns:a16="http://schemas.microsoft.com/office/drawing/2014/main" id="{CB5FD901-8A25-4F9A-91BA-FC1D1B1D3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7" r="10894"/>
          <a:stretch/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53" name="Freeform: Shape 152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5" name="Freeform: Shape 154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C485B-6A27-4C6A-AD00-6E9B8D3E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Legacy of the Cultural Revolution</a:t>
            </a:r>
          </a:p>
        </p:txBody>
      </p:sp>
      <p:sp>
        <p:nvSpPr>
          <p:cNvPr id="10264" name="Rectangle 15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65" name="Rectangle 15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48" name="Content Placeholder 10247">
            <a:extLst>
              <a:ext uri="{FF2B5EF4-FFF2-40B4-BE49-F238E27FC236}">
                <a16:creationId xmlns:a16="http://schemas.microsoft.com/office/drawing/2014/main" id="{6AEB7E86-647E-4884-8B8F-4984F6685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700" dirty="0">
                <a:solidFill>
                  <a:schemeClr val="bg2"/>
                </a:solidFill>
              </a:rPr>
              <a:t>China’s New Direction</a:t>
            </a:r>
          </a:p>
          <a:p>
            <a:pPr lvl="1"/>
            <a:r>
              <a:rPr lang="en-US" sz="1300" dirty="0">
                <a:solidFill>
                  <a:schemeClr val="bg2"/>
                </a:solidFill>
              </a:rPr>
              <a:t>Rejection of Mao’s revolutionary policies</a:t>
            </a:r>
          </a:p>
          <a:p>
            <a:pPr lvl="1"/>
            <a:r>
              <a:rPr lang="en-US" sz="1300" dirty="0">
                <a:solidFill>
                  <a:schemeClr val="bg2"/>
                </a:solidFill>
              </a:rPr>
              <a:t>Fast economic growth powered by the four modernizations  </a:t>
            </a:r>
          </a:p>
          <a:p>
            <a:pPr lvl="1"/>
            <a:r>
              <a:rPr lang="en-US" sz="1300" dirty="0">
                <a:solidFill>
                  <a:schemeClr val="bg2"/>
                </a:solidFill>
              </a:rPr>
              <a:t>Strong emphasis on political stability</a:t>
            </a:r>
          </a:p>
          <a:p>
            <a:pPr lvl="2"/>
            <a:r>
              <a:rPr lang="en-US" sz="1100" dirty="0">
                <a:solidFill>
                  <a:schemeClr val="bg2"/>
                </a:solidFill>
              </a:rPr>
              <a:t>Tian </a:t>
            </a:r>
            <a:r>
              <a:rPr lang="en-US" sz="1100" dirty="0" err="1">
                <a:solidFill>
                  <a:schemeClr val="bg2"/>
                </a:solidFill>
              </a:rPr>
              <a:t>An'men</a:t>
            </a:r>
            <a:r>
              <a:rPr lang="en-US" sz="1100" dirty="0">
                <a:solidFill>
                  <a:schemeClr val="bg2"/>
                </a:solidFill>
              </a:rPr>
              <a:t> Square (June 4th, 1989)</a:t>
            </a:r>
          </a:p>
          <a:p>
            <a:r>
              <a:rPr lang="en-US" sz="1700" dirty="0">
                <a:solidFill>
                  <a:schemeClr val="bg2"/>
                </a:solidFill>
              </a:rPr>
              <a:t>Question Review</a:t>
            </a:r>
          </a:p>
          <a:p>
            <a:pPr lvl="1"/>
            <a:r>
              <a:rPr lang="en-US" sz="1000" dirty="0">
                <a:solidFill>
                  <a:schemeClr val="bg2"/>
                </a:solidFill>
              </a:rPr>
              <a:t>How did the Cultural Revolution end and why did it end when it did?</a:t>
            </a:r>
          </a:p>
          <a:p>
            <a:pPr lvl="1"/>
            <a:r>
              <a:rPr lang="en-US" sz="1000" dirty="0">
                <a:solidFill>
                  <a:schemeClr val="bg2"/>
                </a:solidFill>
              </a:rPr>
              <a:t>Who was “officially” responsible for the cultural revolution and why?</a:t>
            </a:r>
          </a:p>
          <a:p>
            <a:pPr lvl="1"/>
            <a:r>
              <a:rPr lang="en-US" sz="1000" dirty="0">
                <a:solidFill>
                  <a:schemeClr val="bg2"/>
                </a:solidFill>
              </a:rPr>
              <a:t>Whose vision of China won out, Mao’s or his opponents? </a:t>
            </a:r>
          </a:p>
          <a:p>
            <a:pPr lvl="1"/>
            <a:endParaRPr lang="en-US" sz="1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8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43436C"/>
      </a:dk1>
      <a:lt1>
        <a:sysClr val="window" lastClr="F2ECB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2ECBC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651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Neue Haas Grotesk Text Pro</vt:lpstr>
      <vt:lpstr>Office Theme</vt:lpstr>
      <vt:lpstr>AccentBoxVTI</vt:lpstr>
      <vt:lpstr>Module 3  </vt:lpstr>
      <vt:lpstr>Major Questions:</vt:lpstr>
      <vt:lpstr>Module 3 Question:</vt:lpstr>
      <vt:lpstr>Module Theme</vt:lpstr>
      <vt:lpstr>Signs of a “cooling” Revolution</vt:lpstr>
      <vt:lpstr>The Quieter Years (1973-1976)</vt:lpstr>
      <vt:lpstr>1976</vt:lpstr>
      <vt:lpstr>Mao’s Successor</vt:lpstr>
      <vt:lpstr>Making Sense of the Cultural Revolution</vt:lpstr>
      <vt:lpstr>Making Sense of the Cultural Revolution (Continued)</vt:lpstr>
      <vt:lpstr>Breaking with the Past </vt:lpstr>
      <vt:lpstr>The Legacy of the Cultural Revolution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 </dc:title>
  <dc:creator>Barnes, Melvin</dc:creator>
  <cp:lastModifiedBy>Richard Horton</cp:lastModifiedBy>
  <cp:revision>4</cp:revision>
  <dcterms:created xsi:type="dcterms:W3CDTF">2021-01-31T18:29:16Z</dcterms:created>
  <dcterms:modified xsi:type="dcterms:W3CDTF">2025-08-05T00:41:57Z</dcterms:modified>
</cp:coreProperties>
</file>